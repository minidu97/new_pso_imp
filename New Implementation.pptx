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</p:sldIdLst>
  <p:sldSz cx="12192000" cy="6858000"/>
  <p:notesSz cx="6858000" cy="9144000"/>
  <p:defaultTextStyle>
    <a:defPPr>
      <a:defRPr lang="en-L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88"/>
    <p:restoredTop sz="79343"/>
  </p:normalViewPr>
  <p:slideViewPr>
    <p:cSldViewPr snapToGrid="0">
      <p:cViewPr varScale="1">
        <p:scale>
          <a:sx n="180" d="100"/>
          <a:sy n="180" d="100"/>
        </p:scale>
        <p:origin x="30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L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0233AF-A175-2D44-9522-2C15E09DF5D8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L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L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5D973A-524B-9A4E-B824-03E276179D51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700918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D973A-524B-9A4E-B824-03E276179D51}" type="slidenum">
              <a:rPr lang="en-LK" smtClean="0"/>
              <a:t>7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707715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5D973A-524B-9A4E-B824-03E276179D51}" type="slidenum">
              <a:rPr lang="en-LK" smtClean="0"/>
              <a:t>8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637997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4E16-36D7-545A-9792-36535862D7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3DE352-4CC6-C501-CF57-E0691696A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11E92C-9016-A675-8779-2FCE71423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C3847-F20A-D832-B454-B4A01FCF9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AAEC9-A8D3-F184-7B73-A487CB40E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514759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10683-6AF5-FF90-5C13-EE482068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A8253-7A5C-4E59-7333-19E7F44E8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41247-F1D3-0EA7-932F-A209EEC7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33974-4DA5-7CF5-1961-D661BA672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C6865-744C-7421-1B04-602874F07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541376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AA910-78F5-CCBD-496D-DC352AE7C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2CC886-5590-EE51-6ABB-AD955616F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3A9207-F106-C1AD-CC39-085BB3E99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B933AE-6206-A313-5170-4EA5E249B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3D157-61B3-EAFA-1D07-380524157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168024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1BEC-B65D-B5C8-7CEC-64EFEBC9E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EA25C-329B-0F82-C5BF-CC49000753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4AECC-93F3-240A-77F9-62AAED795A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216E90-5C7C-715B-5DE5-108552008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B4E77D-1427-968D-3A55-2DA855B6B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83E7E8-35DE-BC1B-3A37-AA6636C31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643963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5FA41-BC08-068A-DA8C-D765884F0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150A8E-AED6-2375-F248-FF69DF47B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065B65-1CF0-36E9-E4E7-723F550C0E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40CBC3-6275-2CA0-B0EE-C8F370EBD0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D6857-5437-E0F7-5930-FA04F53009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BC45CD-CA99-A82D-10FF-60CEE936F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1A6379-F5E0-D16C-39A4-D532A1653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B1B09-C888-5E7B-956E-B47A5E04B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84770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3F5ED-CD39-A4BC-678A-E175006A0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1AD64-7401-7AE5-CE8E-3C628FBE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667825-6290-00E3-0DF3-207E501ED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66BF1A-D10C-5B78-2F2C-BE6851DFE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474879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5AD15C-81F5-0F2C-F9C8-FDE94A434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836AF8-CB25-056E-4BC0-DF5A4C559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FBEF3-046A-3EC2-BB37-4317895B9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324390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26F8D-059E-A394-7D78-90D32885F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8B15F-C2F8-D5A0-F184-62E309849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BB3B16-9830-A922-8B29-31DCF4C1A6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237317-2812-D126-4DD1-1270529A8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886BA-5529-D39F-31ED-4DB327A66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327344-68FE-A452-66DB-CADECF740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2631956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6F646-7506-0FC7-491B-A6A9BCA40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529E7D-51C2-0B50-80A0-E878647B3D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58D102-E92D-1C08-17BC-958B6CBF7A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EE8476-ACF5-F4AC-CB0A-49DBC1F7E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161008-E772-3FDC-E67C-C090A9C0F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1CE871-B4F7-7033-A2CE-DE5A0B887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4179242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60526-F0C0-9DFC-7302-D540914FC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DF7422-DDAF-BC2C-6E72-1CBFE22238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73CEE8-C346-EE7A-C7AA-C5DDBBE87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0FFA7C-11CE-F4EB-5786-399740BD0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7FFC48-9B95-3AA5-416D-0B74F96EB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3860777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7F7AA7-8457-49EB-3D11-588ED2C901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5D55D5-DA00-85F2-662C-64A75C1B5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178EC1-79E7-E49E-6F2E-74CD573D0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4FCB41-7ACB-3A16-FC20-90F262BB0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34C63-2A61-5CE5-7583-8E856CA68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494508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DC8C3F-E9F0-03DB-905E-A5E66B3AA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L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E364A-5AC8-A2FE-D15A-F92FD4652A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2B9A5-4854-2040-BE9A-135FBB0364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EA9C0-ECF2-5346-9DF8-FA70789C5093}" type="datetimeFigureOut">
              <a:rPr lang="en-LK" smtClean="0"/>
              <a:t>2026-04-27</a:t>
            </a:fld>
            <a:endParaRPr lang="en-L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8055E-9407-16C3-4E25-5145506478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L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D1185-5883-B41A-A5F8-4E8548E3E7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FD4BCE-EBFE-2B4F-A5A1-FB9A80A47A5C}" type="slidenum">
              <a:rPr lang="en-LK" smtClean="0"/>
              <a:t>‹#›</a:t>
            </a:fld>
            <a:endParaRPr lang="en-LK"/>
          </a:p>
        </p:txBody>
      </p:sp>
    </p:spTree>
    <p:extLst>
      <p:ext uri="{BB962C8B-B14F-4D97-AF65-F5344CB8AC3E}">
        <p14:creationId xmlns:p14="http://schemas.microsoft.com/office/powerpoint/2010/main" val="1457490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1">
            <a:extLst>
              <a:ext uri="{FF2B5EF4-FFF2-40B4-BE49-F238E27FC236}">
                <a16:creationId xmlns:a16="http://schemas.microsoft.com/office/drawing/2014/main" id="{7DE3C627-6ED9-B5CF-C82E-688FD05DFF3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9000">
                <a:schemeClr val="accent1">
                  <a:lumMod val="5000"/>
                  <a:lumOff val="95000"/>
                  <a:alpha val="90000"/>
                </a:schemeClr>
              </a:gs>
              <a:gs pos="59000">
                <a:schemeClr val="accent1">
                  <a:lumMod val="30000"/>
                  <a:lumOff val="70000"/>
                  <a:alpha val="9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图片 122">
            <a:extLst>
              <a:ext uri="{FF2B5EF4-FFF2-40B4-BE49-F238E27FC236}">
                <a16:creationId xmlns:a16="http://schemas.microsoft.com/office/drawing/2014/main" id="{88C03220-CA52-8B62-8455-9AE6F73E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686" y="51450"/>
            <a:ext cx="2600559" cy="4837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F296D1-662D-3AEF-0949-AD1EA2166758}"/>
              </a:ext>
            </a:extLst>
          </p:cNvPr>
          <p:cNvSpPr txBox="1"/>
          <p:nvPr/>
        </p:nvSpPr>
        <p:spPr>
          <a:xfrm>
            <a:off x="2277122" y="1639818"/>
            <a:ext cx="758284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effectLst/>
                <a:latin typeface="+mj-lt"/>
              </a:rPr>
              <a:t>Step by Step  Study with Full Equations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3D02DC-602B-9DE9-FB66-D276B5884F31}"/>
              </a:ext>
            </a:extLst>
          </p:cNvPr>
          <p:cNvSpPr txBox="1"/>
          <p:nvPr/>
        </p:nvSpPr>
        <p:spPr>
          <a:xfrm>
            <a:off x="2699467" y="3964172"/>
            <a:ext cx="6738152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K" sz="1600" dirty="0"/>
              <a:t>Minidu Wickramaarachchi</a:t>
            </a:r>
          </a:p>
          <a:p>
            <a:pPr marL="0" indent="0" algn="ctr" eaLnBrk="0" fontAlgn="base" hangingPunct="0">
              <a:spcBef>
                <a:spcPts val="1200"/>
              </a:spcBef>
              <a:spcAft>
                <a:spcPct val="0"/>
              </a:spcAft>
              <a:buNone/>
            </a:pPr>
            <a:r>
              <a:rPr lang="en-US" sz="1600" dirty="0">
                <a:ea typeface="微软雅黑" panose="020B0503020204020204" pitchFamily="34" charset="-122"/>
              </a:rPr>
              <a:t>Professor: </a:t>
            </a:r>
            <a:r>
              <a:rPr lang="ja-JP" altLang="en-US" sz="1600">
                <a:ea typeface="微软雅黑" panose="020B0503020204020204" pitchFamily="34" charset="-122"/>
              </a:rPr>
              <a:t>杨强 </a:t>
            </a:r>
            <a:r>
              <a:rPr lang="en-US" altLang="ja-JP" sz="1600" dirty="0">
                <a:ea typeface="微软雅黑" panose="020B0503020204020204" pitchFamily="34" charset="-122"/>
              </a:rPr>
              <a:t>(</a:t>
            </a:r>
            <a:r>
              <a:rPr lang="en-US" sz="1600" dirty="0" err="1">
                <a:ea typeface="微软雅黑" panose="020B0503020204020204" pitchFamily="34" charset="-122"/>
              </a:rPr>
              <a:t>Qiang</a:t>
            </a:r>
            <a:r>
              <a:rPr lang="en-US" sz="1600" dirty="0">
                <a:ea typeface="微软雅黑" panose="020B0503020204020204" pitchFamily="34" charset="-122"/>
              </a:rPr>
              <a:t> Yang)</a:t>
            </a:r>
          </a:p>
          <a:p>
            <a:pPr marL="0" indent="0" algn="ctr" eaLnBrk="0" fontAlgn="base" hangingPunct="0">
              <a:spcBef>
                <a:spcPts val="1200"/>
              </a:spcBef>
              <a:spcAft>
                <a:spcPct val="0"/>
              </a:spcAft>
              <a:buNone/>
            </a:pPr>
            <a:r>
              <a:rPr lang="en-US" sz="1600" dirty="0">
                <a:ea typeface="微软雅黑" panose="020B0503020204020204" pitchFamily="34" charset="-122"/>
              </a:rPr>
              <a:t> The School of Artificial Intelligence, Nanjing University of Information Science and Technology. Nanjing 210044, China. </a:t>
            </a:r>
          </a:p>
          <a:p>
            <a:pPr marL="0" indent="0" algn="ctr" eaLnBrk="0" fontAlgn="base" hangingPunct="0">
              <a:spcBef>
                <a:spcPts val="1200"/>
              </a:spcBef>
              <a:spcAft>
                <a:spcPct val="0"/>
              </a:spcAft>
              <a:buNone/>
            </a:pPr>
            <a:r>
              <a:rPr lang="en" altLang="zh-CN" sz="1600" dirty="0">
                <a:solidFill>
                  <a:schemeClr val="tx1">
                    <a:lumMod val="90000"/>
                    <a:lumOff val="10000"/>
                  </a:schemeClr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Email</a:t>
            </a:r>
            <a:r>
              <a:rPr lang="zh-CN" altLang="en-US" sz="1600" dirty="0">
                <a:solidFill>
                  <a:schemeClr val="tx1">
                    <a:lumMod val="90000"/>
                    <a:lumOff val="10000"/>
                  </a:schemeClr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dirty="0">
                <a:solidFill>
                  <a:schemeClr val="tx1">
                    <a:lumMod val="90000"/>
                    <a:lumOff val="10000"/>
                  </a:schemeClr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miniduwickramaarchchi97@gmail.com </a:t>
            </a:r>
          </a:p>
          <a:p>
            <a:pPr marL="0" indent="0" algn="ctr" eaLnBrk="0" fontAlgn="base" hangingPunct="0">
              <a:spcBef>
                <a:spcPts val="1200"/>
              </a:spcBef>
              <a:spcAft>
                <a:spcPct val="0"/>
              </a:spcAft>
              <a:buNone/>
            </a:pPr>
            <a:r>
              <a:rPr lang="en-US" altLang="zh-CN" sz="1600" dirty="0">
                <a:solidFill>
                  <a:schemeClr val="tx1">
                    <a:lumMod val="90000"/>
                    <a:lumOff val="10000"/>
                  </a:schemeClr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2026-04-08</a:t>
            </a:r>
            <a:endParaRPr lang="zh-CN" altLang="en-US" sz="1600" dirty="0">
              <a:solidFill>
                <a:schemeClr val="tx1">
                  <a:lumMod val="90000"/>
                  <a:lumOff val="10000"/>
                </a:schemeClr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ctr"/>
            <a:endParaRPr lang="en-LK" sz="1600" dirty="0"/>
          </a:p>
        </p:txBody>
      </p:sp>
    </p:spTree>
    <p:extLst>
      <p:ext uri="{BB962C8B-B14F-4D97-AF65-F5344CB8AC3E}">
        <p14:creationId xmlns:p14="http://schemas.microsoft.com/office/powerpoint/2010/main" val="2044213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1">
            <a:extLst>
              <a:ext uri="{FF2B5EF4-FFF2-40B4-BE49-F238E27FC236}">
                <a16:creationId xmlns:a16="http://schemas.microsoft.com/office/drawing/2014/main" id="{7DE3C627-6ED9-B5CF-C82E-688FD05DFF3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9000">
                <a:schemeClr val="accent1">
                  <a:lumMod val="5000"/>
                  <a:lumOff val="95000"/>
                  <a:alpha val="90000"/>
                </a:schemeClr>
              </a:gs>
              <a:gs pos="59000">
                <a:schemeClr val="accent1">
                  <a:lumMod val="30000"/>
                  <a:lumOff val="70000"/>
                  <a:alpha val="9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图片 122">
            <a:extLst>
              <a:ext uri="{FF2B5EF4-FFF2-40B4-BE49-F238E27FC236}">
                <a16:creationId xmlns:a16="http://schemas.microsoft.com/office/drawing/2014/main" id="{88C03220-CA52-8B62-8455-9AE6F73E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686" y="51450"/>
            <a:ext cx="2600559" cy="4837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6A1267-9557-5765-75FF-F1A4BEA11588}"/>
              </a:ext>
            </a:extLst>
          </p:cNvPr>
          <p:cNvSpPr txBox="1"/>
          <p:nvPr/>
        </p:nvSpPr>
        <p:spPr>
          <a:xfrm>
            <a:off x="2832955" y="426704"/>
            <a:ext cx="6526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K" sz="3200" dirty="0"/>
              <a:t>Core Idea and Notations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A2D2F6-95E3-AC12-99C6-37EF8065CD22}"/>
              </a:ext>
            </a:extLst>
          </p:cNvPr>
          <p:cNvSpPr txBox="1"/>
          <p:nvPr/>
        </p:nvSpPr>
        <p:spPr>
          <a:xfrm>
            <a:off x="1201676" y="1137316"/>
            <a:ext cx="97886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effectLst/>
              </a:rPr>
              <a:t>PSO is a population based metaheuristic that simulates how swarm (bird or fish) collectively search for optimal solutions. Each solution candidate is a “particle” that moves through search space.</a:t>
            </a: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1500525B-B2AD-EB0B-9BA2-E6975BE93CE6}"/>
              </a:ext>
            </a:extLst>
          </p:cNvPr>
          <p:cNvSpPr/>
          <p:nvPr/>
        </p:nvSpPr>
        <p:spPr>
          <a:xfrm>
            <a:off x="1917192" y="2323852"/>
            <a:ext cx="15544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5B71C6D-F686-2D5D-25DF-90460AC28BFE}"/>
              </a:ext>
            </a:extLst>
          </p:cNvPr>
          <p:cNvSpPr/>
          <p:nvPr/>
        </p:nvSpPr>
        <p:spPr>
          <a:xfrm>
            <a:off x="1917192" y="2323852"/>
            <a:ext cx="1554480" cy="658368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0836A3EC-099A-EC38-04CE-B8368282950C}"/>
              </a:ext>
            </a:extLst>
          </p:cNvPr>
          <p:cNvSpPr/>
          <p:nvPr/>
        </p:nvSpPr>
        <p:spPr>
          <a:xfrm>
            <a:off x="1917192" y="232385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</a:t>
            </a:r>
            <a:endParaRPr lang="en-US" sz="2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55B7068-3812-B21E-0DFD-4D0C8F85FE56}"/>
              </a:ext>
            </a:extLst>
          </p:cNvPr>
          <p:cNvSpPr/>
          <p:nvPr/>
        </p:nvSpPr>
        <p:spPr>
          <a:xfrm>
            <a:off x="2008632" y="3055372"/>
            <a:ext cx="13716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number of particles in the swarm</a:t>
            </a:r>
            <a:endParaRPr lang="en-US" sz="11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60346776-28BC-A02A-8D24-F5D19DC3C96A}"/>
              </a:ext>
            </a:extLst>
          </p:cNvPr>
          <p:cNvSpPr/>
          <p:nvPr/>
        </p:nvSpPr>
        <p:spPr>
          <a:xfrm>
            <a:off x="3617976" y="2323852"/>
            <a:ext cx="15544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513EEE2-CF1F-DE12-CDB1-C849FCD3A245}"/>
              </a:ext>
            </a:extLst>
          </p:cNvPr>
          <p:cNvSpPr/>
          <p:nvPr/>
        </p:nvSpPr>
        <p:spPr>
          <a:xfrm>
            <a:off x="3617976" y="2323852"/>
            <a:ext cx="1554480" cy="65836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D4359FF-ACE0-8F2F-06DB-CC3C002151C7}"/>
              </a:ext>
            </a:extLst>
          </p:cNvPr>
          <p:cNvSpPr/>
          <p:nvPr/>
        </p:nvSpPr>
        <p:spPr>
          <a:xfrm>
            <a:off x="3617976" y="232385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xᵢ</a:t>
            </a:r>
            <a:endParaRPr lang="en-US" sz="20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C13329A-2874-C530-E7B7-728C2FA23458}"/>
              </a:ext>
            </a:extLst>
          </p:cNvPr>
          <p:cNvSpPr/>
          <p:nvPr/>
        </p:nvSpPr>
        <p:spPr>
          <a:xfrm>
            <a:off x="3709416" y="3055372"/>
            <a:ext cx="13716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position (solution) of particle i</a:t>
            </a:r>
            <a:endParaRPr lang="en-US" sz="11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30586B2-9C0A-CFC9-F6C8-2923CD768151}"/>
              </a:ext>
            </a:extLst>
          </p:cNvPr>
          <p:cNvSpPr/>
          <p:nvPr/>
        </p:nvSpPr>
        <p:spPr>
          <a:xfrm>
            <a:off x="5318760" y="2323852"/>
            <a:ext cx="15544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4D8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01E6CDE9-D868-AA68-8E75-E14834ABB518}"/>
              </a:ext>
            </a:extLst>
          </p:cNvPr>
          <p:cNvSpPr/>
          <p:nvPr/>
        </p:nvSpPr>
        <p:spPr>
          <a:xfrm>
            <a:off x="5318760" y="2323852"/>
            <a:ext cx="1554480" cy="65836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D79CD2A-A2FC-89AE-B374-CA479C01FC95}"/>
              </a:ext>
            </a:extLst>
          </p:cNvPr>
          <p:cNvSpPr/>
          <p:nvPr/>
        </p:nvSpPr>
        <p:spPr>
          <a:xfrm>
            <a:off x="5318760" y="232385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vᵢ</a:t>
            </a:r>
            <a:endParaRPr lang="en-US" sz="20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F3853273-F1E5-E808-EDDF-E0606354B3B1}"/>
              </a:ext>
            </a:extLst>
          </p:cNvPr>
          <p:cNvSpPr/>
          <p:nvPr/>
        </p:nvSpPr>
        <p:spPr>
          <a:xfrm>
            <a:off x="5410200" y="3055372"/>
            <a:ext cx="13716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velocity (direction &amp; speed) of particle i</a:t>
            </a:r>
            <a:endParaRPr lang="en-US" sz="110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BEAE0196-6E03-8609-B5F3-F6899875B953}"/>
              </a:ext>
            </a:extLst>
          </p:cNvPr>
          <p:cNvSpPr/>
          <p:nvPr/>
        </p:nvSpPr>
        <p:spPr>
          <a:xfrm>
            <a:off x="7019544" y="2323852"/>
            <a:ext cx="15544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6325FFA3-E31E-0B30-F2A2-08C8D0B8BA9F}"/>
              </a:ext>
            </a:extLst>
          </p:cNvPr>
          <p:cNvSpPr/>
          <p:nvPr/>
        </p:nvSpPr>
        <p:spPr>
          <a:xfrm>
            <a:off x="7019544" y="2323852"/>
            <a:ext cx="1554480" cy="65836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BB41846-3539-5468-1627-E51D85F8F828}"/>
              </a:ext>
            </a:extLst>
          </p:cNvPr>
          <p:cNvSpPr/>
          <p:nvPr/>
        </p:nvSpPr>
        <p:spPr>
          <a:xfrm>
            <a:off x="7019544" y="232385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pbest_i</a:t>
            </a:r>
            <a:endParaRPr lang="en-US" sz="20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65913E6D-54D0-AA83-3638-B8C63111C5B7}"/>
              </a:ext>
            </a:extLst>
          </p:cNvPr>
          <p:cNvSpPr/>
          <p:nvPr/>
        </p:nvSpPr>
        <p:spPr>
          <a:xfrm>
            <a:off x="7110984" y="3055372"/>
            <a:ext cx="13716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best position found so far by particle i</a:t>
            </a:r>
            <a:endParaRPr lang="en-US" sz="11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565A0D0-8B12-9961-56F8-E69298CC651E}"/>
              </a:ext>
            </a:extLst>
          </p:cNvPr>
          <p:cNvSpPr/>
          <p:nvPr/>
        </p:nvSpPr>
        <p:spPr>
          <a:xfrm>
            <a:off x="8720328" y="2323852"/>
            <a:ext cx="15544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72585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10F22424-6576-5892-2B2A-C31DB1C440AE}"/>
              </a:ext>
            </a:extLst>
          </p:cNvPr>
          <p:cNvSpPr/>
          <p:nvPr/>
        </p:nvSpPr>
        <p:spPr>
          <a:xfrm>
            <a:off x="8720328" y="2323852"/>
            <a:ext cx="1554480" cy="658368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E46D995E-FCF0-443E-9803-F8FB49BDAF15}"/>
              </a:ext>
            </a:extLst>
          </p:cNvPr>
          <p:cNvSpPr/>
          <p:nvPr/>
        </p:nvSpPr>
        <p:spPr>
          <a:xfrm>
            <a:off x="8720328" y="232385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gbest</a:t>
            </a:r>
            <a:endParaRPr lang="en-US" sz="200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61E71F79-CD16-3A49-8480-09B7F13984F5}"/>
              </a:ext>
            </a:extLst>
          </p:cNvPr>
          <p:cNvSpPr/>
          <p:nvPr/>
        </p:nvSpPr>
        <p:spPr>
          <a:xfrm>
            <a:off x="8811768" y="3055372"/>
            <a:ext cx="13716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best position found by any particle so far</a:t>
            </a:r>
            <a:endParaRPr lang="en-US" sz="110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414839F-1137-26D8-ED0B-0EF38C678CF1}"/>
              </a:ext>
            </a:extLst>
          </p:cNvPr>
          <p:cNvSpPr/>
          <p:nvPr/>
        </p:nvSpPr>
        <p:spPr>
          <a:xfrm>
            <a:off x="1889758" y="5005873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iteration: particles move, update their velocity based on personal &amp; swarm memory, and converge toward optimal regions.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68877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1">
            <a:extLst>
              <a:ext uri="{FF2B5EF4-FFF2-40B4-BE49-F238E27FC236}">
                <a16:creationId xmlns:a16="http://schemas.microsoft.com/office/drawing/2014/main" id="{7DE3C627-6ED9-B5CF-C82E-688FD05DFF3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9000">
                <a:schemeClr val="accent1">
                  <a:lumMod val="5000"/>
                  <a:lumOff val="95000"/>
                  <a:alpha val="90000"/>
                </a:schemeClr>
              </a:gs>
              <a:gs pos="59000">
                <a:schemeClr val="accent1">
                  <a:lumMod val="30000"/>
                  <a:lumOff val="70000"/>
                  <a:alpha val="9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图片 122">
            <a:extLst>
              <a:ext uri="{FF2B5EF4-FFF2-40B4-BE49-F238E27FC236}">
                <a16:creationId xmlns:a16="http://schemas.microsoft.com/office/drawing/2014/main" id="{88C03220-CA52-8B62-8455-9AE6F73E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686" y="51450"/>
            <a:ext cx="2600559" cy="4837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6A1267-9557-5765-75FF-F1A4BEA11588}"/>
              </a:ext>
            </a:extLst>
          </p:cNvPr>
          <p:cNvSpPr txBox="1"/>
          <p:nvPr/>
        </p:nvSpPr>
        <p:spPr>
          <a:xfrm>
            <a:off x="3002276" y="293311"/>
            <a:ext cx="6187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K" sz="3200" b="1" dirty="0">
                <a:latin typeface="+mj-lt"/>
              </a:rPr>
              <a:t>Standard Velocity Update Equation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CFB5DD67-A815-0C53-E3F0-E54DF95AD525}"/>
              </a:ext>
            </a:extLst>
          </p:cNvPr>
          <p:cNvSpPr/>
          <p:nvPr/>
        </p:nvSpPr>
        <p:spPr>
          <a:xfrm>
            <a:off x="1844040" y="1499733"/>
            <a:ext cx="8503920" cy="804672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37190DE-3982-7981-ABAA-856298C50E5C}"/>
              </a:ext>
            </a:extLst>
          </p:cNvPr>
          <p:cNvSpPr/>
          <p:nvPr/>
        </p:nvSpPr>
        <p:spPr>
          <a:xfrm>
            <a:off x="1844040" y="1499733"/>
            <a:ext cx="8503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vᵢ  =  </a:t>
            </a:r>
            <a:r>
              <a:rPr lang="en-US" sz="1700" b="1" dirty="0" err="1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ω.v</a:t>
            </a:r>
            <a:r>
              <a:rPr lang="en-US" sz="17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ᵢ   +   </a:t>
            </a:r>
            <a:r>
              <a:rPr lang="en-US" sz="1700" b="1" dirty="0" err="1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c₁.r</a:t>
            </a:r>
            <a:r>
              <a:rPr lang="en-US" sz="17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₁(pbest_i  −  xᵢ)   +   </a:t>
            </a:r>
            <a:r>
              <a:rPr lang="en-US" sz="1700" b="1" dirty="0" err="1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c₂.r</a:t>
            </a:r>
            <a:r>
              <a:rPr lang="en-US" sz="17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₂(gbest  −  xᵢ)</a:t>
            </a:r>
            <a:endParaRPr lang="en-US" sz="17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2E536650-04EE-C95D-548C-5A2568C049CB}"/>
              </a:ext>
            </a:extLst>
          </p:cNvPr>
          <p:cNvSpPr/>
          <p:nvPr/>
        </p:nvSpPr>
        <p:spPr>
          <a:xfrm>
            <a:off x="1798320" y="2441565"/>
            <a:ext cx="281635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D47035FC-21AB-8393-81CA-D815F0F95935}"/>
              </a:ext>
            </a:extLst>
          </p:cNvPr>
          <p:cNvSpPr/>
          <p:nvPr/>
        </p:nvSpPr>
        <p:spPr>
          <a:xfrm>
            <a:off x="1798320" y="2441565"/>
            <a:ext cx="2816352" cy="438912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0063DF8-6985-B663-2A04-F6B97B1DF1B2}"/>
              </a:ext>
            </a:extLst>
          </p:cNvPr>
          <p:cNvSpPr/>
          <p:nvPr/>
        </p:nvSpPr>
        <p:spPr>
          <a:xfrm>
            <a:off x="1844040" y="2441565"/>
            <a:ext cx="2724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Inertia Term   </a:t>
            </a:r>
            <a:r>
              <a:rPr lang="en-US" sz="110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ω·v</a:t>
            </a: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ᵢ</a:t>
            </a:r>
            <a:endParaRPr lang="en-US" sz="11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6DE0C6A3-F321-D825-4835-453C0B8D1310}"/>
              </a:ext>
            </a:extLst>
          </p:cNvPr>
          <p:cNvSpPr/>
          <p:nvPr/>
        </p:nvSpPr>
        <p:spPr>
          <a:xfrm>
            <a:off x="1908048" y="2953629"/>
            <a:ext cx="2596896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  =  inertia weight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how much previous velocity is carried forward.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ω  →  exploration (particle travels far)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ω   →  exploitation (particle focuses locally)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Typically: ω decreases over time from 0.9 → 0.4</a:t>
            </a:r>
            <a:endParaRPr lang="en-US" sz="1100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BCA25D71-160F-1C5E-D214-9F75F802161C}"/>
              </a:ext>
            </a:extLst>
          </p:cNvPr>
          <p:cNvSpPr/>
          <p:nvPr/>
        </p:nvSpPr>
        <p:spPr>
          <a:xfrm>
            <a:off x="4742688" y="2441565"/>
            <a:ext cx="281635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528DFAD7-1415-4E5E-9EC3-48AD01EFB0E9}"/>
              </a:ext>
            </a:extLst>
          </p:cNvPr>
          <p:cNvSpPr/>
          <p:nvPr/>
        </p:nvSpPr>
        <p:spPr>
          <a:xfrm>
            <a:off x="4742688" y="2441565"/>
            <a:ext cx="2816352" cy="43891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504798C8-1B13-781E-31C6-290B0AF24D3B}"/>
              </a:ext>
            </a:extLst>
          </p:cNvPr>
          <p:cNvSpPr/>
          <p:nvPr/>
        </p:nvSpPr>
        <p:spPr>
          <a:xfrm>
            <a:off x="4788408" y="2441565"/>
            <a:ext cx="2724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Cognitive Term   </a:t>
            </a:r>
            <a:r>
              <a:rPr lang="en-US" sz="110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c₁r</a:t>
            </a: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₁(pbest_i − xᵢ)</a:t>
            </a:r>
            <a:endParaRPr lang="en-US" sz="11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EC8E2E43-4FD7-58DD-4828-609E31199C64}"/>
              </a:ext>
            </a:extLst>
          </p:cNvPr>
          <p:cNvSpPr/>
          <p:nvPr/>
        </p:nvSpPr>
        <p:spPr>
          <a:xfrm>
            <a:off x="4852416" y="2953629"/>
            <a:ext cx="2596896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c₁  =  cognitive acceleration coeff.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r₁  =  random ∈ [0, 1]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particle toward its own personal best.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(pbest_i − xᵢ) = displacement to personal best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individual memory / self-confidence.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c₁ = 2.0</a:t>
            </a:r>
            <a:endParaRPr lang="en-US" sz="1100" dirty="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DFC17979-98DA-0A9A-497D-6EBE51735785}"/>
              </a:ext>
            </a:extLst>
          </p:cNvPr>
          <p:cNvSpPr/>
          <p:nvPr/>
        </p:nvSpPr>
        <p:spPr>
          <a:xfrm>
            <a:off x="7687056" y="2441565"/>
            <a:ext cx="2816352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72585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28B2FDE4-AA3B-497E-C0B3-33A0E0A69110}"/>
              </a:ext>
            </a:extLst>
          </p:cNvPr>
          <p:cNvSpPr/>
          <p:nvPr/>
        </p:nvSpPr>
        <p:spPr>
          <a:xfrm>
            <a:off x="7687056" y="2441565"/>
            <a:ext cx="2816352" cy="438912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BA9D5EC-D5D3-3BD7-06B0-6E1B04149C3D}"/>
              </a:ext>
            </a:extLst>
          </p:cNvPr>
          <p:cNvSpPr/>
          <p:nvPr/>
        </p:nvSpPr>
        <p:spPr>
          <a:xfrm>
            <a:off x="7732776" y="2441565"/>
            <a:ext cx="2724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Social Term   </a:t>
            </a:r>
            <a:r>
              <a:rPr lang="en-US" sz="1100" b="1" dirty="0" err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c₂r</a:t>
            </a: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₂(gbest − xᵢ)</a:t>
            </a:r>
            <a:endParaRPr lang="en-US" sz="1100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7C48B7CB-F9D5-5D1A-9B56-39C58CB66B9C}"/>
              </a:ext>
            </a:extLst>
          </p:cNvPr>
          <p:cNvSpPr/>
          <p:nvPr/>
        </p:nvSpPr>
        <p:spPr>
          <a:xfrm>
            <a:off x="7796784" y="2953629"/>
            <a:ext cx="2596896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c₂  =  social acceleration coeff.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r₂  =  random ∈ [0, 1]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particle toward the global best position.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(gbest − xᵢ) = displacement to swarm best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social learning from the group.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c₂ = 2.0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835866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1">
            <a:extLst>
              <a:ext uri="{FF2B5EF4-FFF2-40B4-BE49-F238E27FC236}">
                <a16:creationId xmlns:a16="http://schemas.microsoft.com/office/drawing/2014/main" id="{7DE3C627-6ED9-B5CF-C82E-688FD05DFF33}"/>
              </a:ext>
            </a:extLst>
          </p:cNvPr>
          <p:cNvSpPr/>
          <p:nvPr/>
        </p:nvSpPr>
        <p:spPr>
          <a:xfrm>
            <a:off x="0" y="8878"/>
            <a:ext cx="12192000" cy="6858000"/>
          </a:xfrm>
          <a:prstGeom prst="rect">
            <a:avLst/>
          </a:prstGeom>
          <a:gradFill>
            <a:gsLst>
              <a:gs pos="19000">
                <a:schemeClr val="accent1">
                  <a:lumMod val="5000"/>
                  <a:lumOff val="95000"/>
                  <a:alpha val="90000"/>
                </a:schemeClr>
              </a:gs>
              <a:gs pos="59000">
                <a:schemeClr val="accent1">
                  <a:lumMod val="30000"/>
                  <a:lumOff val="70000"/>
                  <a:alpha val="9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图片 122">
            <a:extLst>
              <a:ext uri="{FF2B5EF4-FFF2-40B4-BE49-F238E27FC236}">
                <a16:creationId xmlns:a16="http://schemas.microsoft.com/office/drawing/2014/main" id="{88C03220-CA52-8B62-8455-9AE6F73E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686" y="51450"/>
            <a:ext cx="2600559" cy="4837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6A1267-9557-5765-75FF-F1A4BEA11588}"/>
              </a:ext>
            </a:extLst>
          </p:cNvPr>
          <p:cNvSpPr txBox="1"/>
          <p:nvPr/>
        </p:nvSpPr>
        <p:spPr>
          <a:xfrm>
            <a:off x="2681473" y="557513"/>
            <a:ext cx="68387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+mj-lt"/>
              </a:rPr>
              <a:t>Position Update &amp; </a:t>
            </a:r>
            <a:r>
              <a:rPr lang="en-US" sz="3200" b="1" dirty="0" err="1">
                <a:latin typeface="+mj-lt"/>
              </a:rPr>
              <a:t>pbest</a:t>
            </a:r>
            <a:r>
              <a:rPr lang="en-US" sz="3200" b="1" dirty="0">
                <a:latin typeface="+mj-lt"/>
              </a:rPr>
              <a:t> / </a:t>
            </a:r>
            <a:r>
              <a:rPr lang="en-US" sz="3200" b="1" dirty="0" err="1">
                <a:latin typeface="+mj-lt"/>
              </a:rPr>
              <a:t>gbest</a:t>
            </a:r>
            <a:r>
              <a:rPr lang="en-US" sz="3200" b="1" dirty="0">
                <a:latin typeface="+mj-lt"/>
              </a:rPr>
              <a:t> Rules</a:t>
            </a:r>
            <a:endParaRPr lang="en-LK" sz="3200" b="1" dirty="0">
              <a:latin typeface="+mj-lt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F41DA952-0BA6-E90A-DF3B-774C6E83B8E8}"/>
              </a:ext>
            </a:extLst>
          </p:cNvPr>
          <p:cNvSpPr/>
          <p:nvPr/>
        </p:nvSpPr>
        <p:spPr>
          <a:xfrm>
            <a:off x="1844040" y="1690923"/>
            <a:ext cx="420624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A695278-5BB8-8B8C-4241-1A204F6B978A}"/>
              </a:ext>
            </a:extLst>
          </p:cNvPr>
          <p:cNvSpPr/>
          <p:nvPr/>
        </p:nvSpPr>
        <p:spPr>
          <a:xfrm>
            <a:off x="1889760" y="1690923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xᵢ  =  xᵢ  +  vᵢ</a:t>
            </a:r>
            <a:endParaRPr lang="en-US" sz="18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6C5AC7E-E232-D9AA-A8F8-E87A45FAE606}"/>
              </a:ext>
            </a:extLst>
          </p:cNvPr>
          <p:cNvSpPr/>
          <p:nvPr/>
        </p:nvSpPr>
        <p:spPr>
          <a:xfrm>
            <a:off x="6324600" y="1690923"/>
            <a:ext cx="406908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A1014D5-220A-EF0C-FB24-5D7757107838}"/>
              </a:ext>
            </a:extLst>
          </p:cNvPr>
          <p:cNvSpPr/>
          <p:nvPr/>
        </p:nvSpPr>
        <p:spPr>
          <a:xfrm>
            <a:off x="6461760" y="1690923"/>
            <a:ext cx="3794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pbest_i  is updated only if  f(xᵢ_new) &lt; f(pbest_i)</a:t>
            </a:r>
            <a:endParaRPr lang="en-US" sz="12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38BA650-5D89-D18B-BD34-5EC29C3B2A03}"/>
              </a:ext>
            </a:extLst>
          </p:cNvPr>
          <p:cNvSpPr/>
          <p:nvPr/>
        </p:nvSpPr>
        <p:spPr>
          <a:xfrm>
            <a:off x="1844040" y="2513883"/>
            <a:ext cx="4114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FCAE5715-C146-E7DF-6E36-D9E0BEDC5218}"/>
              </a:ext>
            </a:extLst>
          </p:cNvPr>
          <p:cNvSpPr/>
          <p:nvPr/>
        </p:nvSpPr>
        <p:spPr>
          <a:xfrm>
            <a:off x="1844040" y="2513883"/>
            <a:ext cx="4114800" cy="384048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A06C8320-87C0-B19D-2D69-B4C17EF702B0}"/>
              </a:ext>
            </a:extLst>
          </p:cNvPr>
          <p:cNvSpPr/>
          <p:nvPr/>
        </p:nvSpPr>
        <p:spPr>
          <a:xfrm>
            <a:off x="1844040" y="2513883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Best (pbest) Update</a:t>
            </a:r>
            <a:endParaRPr lang="en-US" sz="12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8722DBBA-BE66-6233-614A-90EDECB20132}"/>
              </a:ext>
            </a:extLst>
          </p:cNvPr>
          <p:cNvSpPr/>
          <p:nvPr/>
        </p:nvSpPr>
        <p:spPr>
          <a:xfrm>
            <a:off x="1953768" y="2989371"/>
            <a:ext cx="3895344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47E39DB-71F9-D675-B6EC-6408B39714C2}"/>
              </a:ext>
            </a:extLst>
          </p:cNvPr>
          <p:cNvSpPr/>
          <p:nvPr/>
        </p:nvSpPr>
        <p:spPr>
          <a:xfrm>
            <a:off x="1953768" y="2989371"/>
            <a:ext cx="3895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 f(xᵢ)  &lt;  f(pbest_i)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 pbest_i  =  xᵢ</a:t>
            </a:r>
            <a:endParaRPr lang="en-US" sz="11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B2AFCD-DDC1-3D51-407D-29E0C17BE868}"/>
              </a:ext>
            </a:extLst>
          </p:cNvPr>
          <p:cNvSpPr/>
          <p:nvPr/>
        </p:nvSpPr>
        <p:spPr>
          <a:xfrm>
            <a:off x="1953768" y="3830619"/>
            <a:ext cx="3895344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particle remembers the best position it has personally visited. After each move, compare the new fitness to the stored personal best and replace if better.</a:t>
            </a:r>
            <a:endParaRPr lang="en-US" sz="115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56FF453A-1CBF-9F4D-A3F9-67A3245B55DB}"/>
              </a:ext>
            </a:extLst>
          </p:cNvPr>
          <p:cNvSpPr/>
          <p:nvPr/>
        </p:nvSpPr>
        <p:spPr>
          <a:xfrm>
            <a:off x="6278880" y="2513883"/>
            <a:ext cx="4114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FAD5A755-D2C1-82CD-C970-2C2CCD13C666}"/>
              </a:ext>
            </a:extLst>
          </p:cNvPr>
          <p:cNvSpPr/>
          <p:nvPr/>
        </p:nvSpPr>
        <p:spPr>
          <a:xfrm>
            <a:off x="6278880" y="2513883"/>
            <a:ext cx="4114800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172D33F-0B9C-A107-E916-0807716F1128}"/>
              </a:ext>
            </a:extLst>
          </p:cNvPr>
          <p:cNvSpPr/>
          <p:nvPr/>
        </p:nvSpPr>
        <p:spPr>
          <a:xfrm>
            <a:off x="6278880" y="2513883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Best (gbest) Update</a:t>
            </a:r>
            <a:endParaRPr lang="en-US" sz="12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062F1821-016B-7AF7-0209-7FC982BBDCA5}"/>
              </a:ext>
            </a:extLst>
          </p:cNvPr>
          <p:cNvSpPr/>
          <p:nvPr/>
        </p:nvSpPr>
        <p:spPr>
          <a:xfrm>
            <a:off x="6388608" y="2989371"/>
            <a:ext cx="3895344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8636DC6-8ABB-08F1-1A61-91C2E14CEFBC}"/>
              </a:ext>
            </a:extLst>
          </p:cNvPr>
          <p:cNvSpPr/>
          <p:nvPr/>
        </p:nvSpPr>
        <p:spPr>
          <a:xfrm>
            <a:off x="6388608" y="2989371"/>
            <a:ext cx="3895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gbest  =  arg min  f(pbest_i)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∀ i ∈ {1 … NP}</a:t>
            </a:r>
            <a:endParaRPr lang="en-US" sz="11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AC9882BD-CFA0-413C-5A0D-DE608479CFFA}"/>
              </a:ext>
            </a:extLst>
          </p:cNvPr>
          <p:cNvSpPr/>
          <p:nvPr/>
        </p:nvSpPr>
        <p:spPr>
          <a:xfrm>
            <a:off x="6388608" y="3830619"/>
            <a:ext cx="3895344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best is the best position found by ANY particle across the entire swarm. Updated by scanning all pbest values each iteration.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437908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1">
            <a:extLst>
              <a:ext uri="{FF2B5EF4-FFF2-40B4-BE49-F238E27FC236}">
                <a16:creationId xmlns:a16="http://schemas.microsoft.com/office/drawing/2014/main" id="{7DE3C627-6ED9-B5CF-C82E-688FD05DFF3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9000">
                <a:schemeClr val="accent1">
                  <a:lumMod val="5000"/>
                  <a:lumOff val="95000"/>
                  <a:alpha val="90000"/>
                </a:schemeClr>
              </a:gs>
              <a:gs pos="59000">
                <a:schemeClr val="accent1">
                  <a:lumMod val="30000"/>
                  <a:lumOff val="70000"/>
                  <a:alpha val="9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图片 122">
            <a:extLst>
              <a:ext uri="{FF2B5EF4-FFF2-40B4-BE49-F238E27FC236}">
                <a16:creationId xmlns:a16="http://schemas.microsoft.com/office/drawing/2014/main" id="{88C03220-CA52-8B62-8455-9AE6F73E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686" y="51450"/>
            <a:ext cx="2600559" cy="4837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6A1267-9557-5765-75FF-F1A4BEA11588}"/>
              </a:ext>
            </a:extLst>
          </p:cNvPr>
          <p:cNvSpPr txBox="1"/>
          <p:nvPr/>
        </p:nvSpPr>
        <p:spPr>
          <a:xfrm>
            <a:off x="2826869" y="535172"/>
            <a:ext cx="64318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K" sz="3200" b="1" dirty="0">
                <a:latin typeface="+mj-lt"/>
              </a:rPr>
              <a:t>Modified PSO– Elite Archive (Top-M)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8AEBF43-616F-4A29-60E4-1C2C1D5633BB}"/>
              </a:ext>
            </a:extLst>
          </p:cNvPr>
          <p:cNvSpPr/>
          <p:nvPr/>
        </p:nvSpPr>
        <p:spPr>
          <a:xfrm>
            <a:off x="1719639" y="1662046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notes introduce a key modification: instead of a single gbest, an archive of the top M particles is maintained each iteration.</a:t>
            </a:r>
            <a:endParaRPr lang="en-US" sz="130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69E0C16-1855-3E84-76E2-C388AD00961B}"/>
              </a:ext>
            </a:extLst>
          </p:cNvPr>
          <p:cNvSpPr/>
          <p:nvPr/>
        </p:nvSpPr>
        <p:spPr>
          <a:xfrm>
            <a:off x="1719639" y="218325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Size Formula:</a:t>
            </a:r>
            <a:endParaRPr lang="en-US" sz="13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507418A-8B05-CCAF-F921-C4FC31ACE62C}"/>
              </a:ext>
            </a:extLst>
          </p:cNvPr>
          <p:cNvSpPr/>
          <p:nvPr/>
        </p:nvSpPr>
        <p:spPr>
          <a:xfrm>
            <a:off x="1719639" y="2576446"/>
            <a:ext cx="393192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B0913983-CB41-F6C8-AC92-FADC2CD1C271}"/>
              </a:ext>
            </a:extLst>
          </p:cNvPr>
          <p:cNvSpPr/>
          <p:nvPr/>
        </p:nvSpPr>
        <p:spPr>
          <a:xfrm>
            <a:off x="1719639" y="257644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 =  ⌊ p  ×  NP ⌋</a:t>
            </a:r>
            <a:endParaRPr lang="en-US" sz="17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B7780E0B-F042-FD78-37CD-03F7A60EFCC9}"/>
              </a:ext>
            </a:extLst>
          </p:cNvPr>
          <p:cNvSpPr/>
          <p:nvPr/>
        </p:nvSpPr>
        <p:spPr>
          <a:xfrm>
            <a:off x="5834439" y="2576446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 =  archive fraction  ∈  (0, 1)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 = swarm size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 =  number of elite particles kept</a:t>
            </a:r>
            <a:endParaRPr lang="en-US" sz="115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221823C2-8BA1-A668-80EB-8DEBDB4163D0}"/>
              </a:ext>
            </a:extLst>
          </p:cNvPr>
          <p:cNvSpPr/>
          <p:nvPr/>
        </p:nvSpPr>
        <p:spPr>
          <a:xfrm>
            <a:off x="1719639" y="349084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 Membership Condition:</a:t>
            </a:r>
            <a:endParaRPr lang="en-US" sz="1300" dirty="0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65E78883-C22C-9FC0-2C4D-24ACA1E6D4B9}"/>
              </a:ext>
            </a:extLst>
          </p:cNvPr>
          <p:cNvSpPr/>
          <p:nvPr/>
        </p:nvSpPr>
        <p:spPr>
          <a:xfrm>
            <a:off x="1719639" y="3884038"/>
            <a:ext cx="841248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C7C3E7F9-E63C-DBA8-FBA1-95AB80060E93}"/>
              </a:ext>
            </a:extLst>
          </p:cNvPr>
          <p:cNvSpPr/>
          <p:nvPr/>
        </p:nvSpPr>
        <p:spPr>
          <a:xfrm>
            <a:off x="1719639" y="388403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particle i  ∈  Archive   iff   f(xᵢ)  ≥  f_worst(M)</a:t>
            </a:r>
            <a:endParaRPr lang="en-US" sz="150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74EBEA8A-A09C-34B7-782F-2AFC97EFB4EE}"/>
              </a:ext>
            </a:extLst>
          </p:cNvPr>
          <p:cNvSpPr/>
          <p:nvPr/>
        </p:nvSpPr>
        <p:spPr>
          <a:xfrm>
            <a:off x="1719639" y="4633846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f_worst(M)  =  fitness of the worst particle currently in the top-M archive</a:t>
            </a:r>
            <a:endParaRPr lang="en-US" sz="12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EA5FD3CB-B003-C7B4-7EE9-EBF7A39DABC0}"/>
              </a:ext>
            </a:extLst>
          </p:cNvPr>
          <p:cNvSpPr/>
          <p:nvPr/>
        </p:nvSpPr>
        <p:spPr>
          <a:xfrm>
            <a:off x="1719639" y="5045326"/>
            <a:ext cx="4023360" cy="6858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A36107EB-CA32-F61E-65DA-B56A50397179}"/>
              </a:ext>
            </a:extLst>
          </p:cNvPr>
          <p:cNvSpPr/>
          <p:nvPr/>
        </p:nvSpPr>
        <p:spPr>
          <a:xfrm>
            <a:off x="1719639" y="5045326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Top-M  →  Elite Archive  (1</a:t>
            </a:r>
            <a:r>
              <a:rPr lang="en-US" sz="1200" b="1" baseline="3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case)</a:t>
            </a:r>
            <a:endParaRPr lang="en-US" sz="1200" dirty="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B7B25948-FAAF-0F47-72BC-A850FAA762A3}"/>
              </a:ext>
            </a:extLst>
          </p:cNvPr>
          <p:cNvSpPr/>
          <p:nvPr/>
        </p:nvSpPr>
        <p:spPr>
          <a:xfrm>
            <a:off x="6108759" y="5045326"/>
            <a:ext cx="4023360" cy="6858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5D95B10-155C-3398-2AE9-0780F3F1087A}"/>
              </a:ext>
            </a:extLst>
          </p:cNvPr>
          <p:cNvSpPr/>
          <p:nvPr/>
        </p:nvSpPr>
        <p:spPr>
          <a:xfrm>
            <a:off x="6108759" y="5045326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(NP − M)  →  Normal Update  (2</a:t>
            </a:r>
            <a:r>
              <a:rPr lang="en-US" sz="1200" b="1" baseline="3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case)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146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1">
            <a:extLst>
              <a:ext uri="{FF2B5EF4-FFF2-40B4-BE49-F238E27FC236}">
                <a16:creationId xmlns:a16="http://schemas.microsoft.com/office/drawing/2014/main" id="{7DE3C627-6ED9-B5CF-C82E-688FD05DFF3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9000">
                <a:schemeClr val="accent1">
                  <a:lumMod val="5000"/>
                  <a:lumOff val="95000"/>
                  <a:alpha val="90000"/>
                </a:schemeClr>
              </a:gs>
              <a:gs pos="59000">
                <a:schemeClr val="accent1">
                  <a:lumMod val="30000"/>
                  <a:lumOff val="70000"/>
                  <a:alpha val="9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图片 122">
            <a:extLst>
              <a:ext uri="{FF2B5EF4-FFF2-40B4-BE49-F238E27FC236}">
                <a16:creationId xmlns:a16="http://schemas.microsoft.com/office/drawing/2014/main" id="{88C03220-CA52-8B62-8455-9AE6F73E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686" y="51450"/>
            <a:ext cx="2600559" cy="4837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6A1267-9557-5765-75FF-F1A4BEA11588}"/>
              </a:ext>
            </a:extLst>
          </p:cNvPr>
          <p:cNvSpPr txBox="1"/>
          <p:nvPr/>
        </p:nvSpPr>
        <p:spPr>
          <a:xfrm>
            <a:off x="1922043" y="476176"/>
            <a:ext cx="77933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K" sz="3200" b="1" dirty="0">
                <a:latin typeface="+mj-lt"/>
              </a:rPr>
              <a:t>Two Case Position Update Rule</a:t>
            </a:r>
          </a:p>
        </p:txBody>
      </p:sp>
      <p:sp>
        <p:nvSpPr>
          <p:cNvPr id="52" name="Text 2">
            <a:extLst>
              <a:ext uri="{FF2B5EF4-FFF2-40B4-BE49-F238E27FC236}">
                <a16:creationId xmlns:a16="http://schemas.microsoft.com/office/drawing/2014/main" id="{C394A0FF-426B-9B94-A2F9-D69A670B062A}"/>
              </a:ext>
            </a:extLst>
          </p:cNvPr>
          <p:cNvSpPr/>
          <p:nvPr/>
        </p:nvSpPr>
        <p:spPr>
          <a:xfrm>
            <a:off x="1868495" y="134200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iteration, particles are split into two groups and updated differently:</a:t>
            </a:r>
            <a:endParaRPr lang="en-US" sz="1300" dirty="0"/>
          </a:p>
        </p:txBody>
      </p:sp>
      <p:sp>
        <p:nvSpPr>
          <p:cNvPr id="53" name="Shape 3">
            <a:extLst>
              <a:ext uri="{FF2B5EF4-FFF2-40B4-BE49-F238E27FC236}">
                <a16:creationId xmlns:a16="http://schemas.microsoft.com/office/drawing/2014/main" id="{99574225-BC22-8D64-F178-7425A95E1C64}"/>
              </a:ext>
            </a:extLst>
          </p:cNvPr>
          <p:cNvSpPr/>
          <p:nvPr/>
        </p:nvSpPr>
        <p:spPr>
          <a:xfrm>
            <a:off x="1777055" y="1753486"/>
            <a:ext cx="4160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Shape 4">
            <a:extLst>
              <a:ext uri="{FF2B5EF4-FFF2-40B4-BE49-F238E27FC236}">
                <a16:creationId xmlns:a16="http://schemas.microsoft.com/office/drawing/2014/main" id="{471F0452-343D-10F6-0AC4-3A5763E53875}"/>
              </a:ext>
            </a:extLst>
          </p:cNvPr>
          <p:cNvSpPr/>
          <p:nvPr/>
        </p:nvSpPr>
        <p:spPr>
          <a:xfrm>
            <a:off x="1777055" y="1753486"/>
            <a:ext cx="4160520" cy="4572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A1CBC127-09BC-5508-13DC-62D78C902F2C}"/>
              </a:ext>
            </a:extLst>
          </p:cNvPr>
          <p:cNvSpPr/>
          <p:nvPr/>
        </p:nvSpPr>
        <p:spPr>
          <a:xfrm>
            <a:off x="1777055" y="175348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300" b="1" baseline="3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Case  —  Elite Particles</a:t>
            </a:r>
            <a:endParaRPr lang="en-US" sz="1300" dirty="0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2978C141-2193-6E57-6105-3A7FCBDBF04C}"/>
              </a:ext>
            </a:extLst>
          </p:cNvPr>
          <p:cNvSpPr/>
          <p:nvPr/>
        </p:nvSpPr>
        <p:spPr>
          <a:xfrm>
            <a:off x="1959935" y="232041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Condition:</a:t>
            </a:r>
            <a:endParaRPr lang="en-US" sz="1100" dirty="0"/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E8156636-E359-7402-EE6E-BC6515118E92}"/>
              </a:ext>
            </a:extLst>
          </p:cNvPr>
          <p:cNvSpPr/>
          <p:nvPr/>
        </p:nvSpPr>
        <p:spPr>
          <a:xfrm>
            <a:off x="1886783" y="2622166"/>
            <a:ext cx="3931920" cy="566928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8" name="Text 8">
            <a:extLst>
              <a:ext uri="{FF2B5EF4-FFF2-40B4-BE49-F238E27FC236}">
                <a16:creationId xmlns:a16="http://schemas.microsoft.com/office/drawing/2014/main" id="{79FE912D-DD99-9C2A-E71C-1A060DC85AED}"/>
              </a:ext>
            </a:extLst>
          </p:cNvPr>
          <p:cNvSpPr/>
          <p:nvPr/>
        </p:nvSpPr>
        <p:spPr>
          <a:xfrm>
            <a:off x="1886783" y="262216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f(xᵢ)  ≥  f_worst(M)</a:t>
            </a:r>
            <a:endParaRPr lang="en-US" sz="1300" dirty="0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4020733D-D69C-3159-65D1-1B852859C8C2}"/>
              </a:ext>
            </a:extLst>
          </p:cNvPr>
          <p:cNvSpPr/>
          <p:nvPr/>
        </p:nvSpPr>
        <p:spPr>
          <a:xfrm>
            <a:off x="1959935" y="330796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</a:t>
            </a:r>
            <a:endParaRPr lang="en-US" sz="1100" dirty="0"/>
          </a:p>
        </p:txBody>
      </p:sp>
      <p:sp>
        <p:nvSpPr>
          <p:cNvPr id="60" name="Shape 10">
            <a:extLst>
              <a:ext uri="{FF2B5EF4-FFF2-40B4-BE49-F238E27FC236}">
                <a16:creationId xmlns:a16="http://schemas.microsoft.com/office/drawing/2014/main" id="{0B23F747-9DA3-8C31-76EB-9B03A2225E47}"/>
              </a:ext>
            </a:extLst>
          </p:cNvPr>
          <p:cNvSpPr/>
          <p:nvPr/>
        </p:nvSpPr>
        <p:spPr>
          <a:xfrm>
            <a:off x="1886783" y="3609718"/>
            <a:ext cx="3931920" cy="530352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1" name="Text 11">
            <a:extLst>
              <a:ext uri="{FF2B5EF4-FFF2-40B4-BE49-F238E27FC236}">
                <a16:creationId xmlns:a16="http://schemas.microsoft.com/office/drawing/2014/main" id="{A9AB0B5B-E71E-82DE-561A-F29E8EA014C2}"/>
              </a:ext>
            </a:extLst>
          </p:cNvPr>
          <p:cNvSpPr/>
          <p:nvPr/>
        </p:nvSpPr>
        <p:spPr>
          <a:xfrm>
            <a:off x="1886783" y="3609718"/>
            <a:ext cx="3931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xᵢ  →  NO UPDATE</a:t>
            </a:r>
            <a:endParaRPr lang="en-US" sz="1300" dirty="0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56CF5105-9A25-9B2F-3843-46E0BB3AC36D}"/>
              </a:ext>
            </a:extLst>
          </p:cNvPr>
          <p:cNvSpPr/>
          <p:nvPr/>
        </p:nvSpPr>
        <p:spPr>
          <a:xfrm>
            <a:off x="1914215" y="4222366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is already in the elite archive. Its position is preserved — it does NOT update velocity or position this iteration. This protects good solutions from being overwritten.</a:t>
            </a:r>
            <a:endParaRPr lang="en-US" sz="1100" dirty="0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D37AF163-9BDD-5133-576F-94CF94F71206}"/>
              </a:ext>
            </a:extLst>
          </p:cNvPr>
          <p:cNvSpPr/>
          <p:nvPr/>
        </p:nvSpPr>
        <p:spPr>
          <a:xfrm>
            <a:off x="6211895" y="1753486"/>
            <a:ext cx="4160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F44AC4B0-A742-9BA6-09F4-B2DACAE8BE37}"/>
              </a:ext>
            </a:extLst>
          </p:cNvPr>
          <p:cNvSpPr/>
          <p:nvPr/>
        </p:nvSpPr>
        <p:spPr>
          <a:xfrm>
            <a:off x="6211895" y="1753486"/>
            <a:ext cx="4160520" cy="45720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65" name="Text 15">
            <a:extLst>
              <a:ext uri="{FF2B5EF4-FFF2-40B4-BE49-F238E27FC236}">
                <a16:creationId xmlns:a16="http://schemas.microsoft.com/office/drawing/2014/main" id="{94755696-5428-F211-3FF9-C7A5D2D44D90}"/>
              </a:ext>
            </a:extLst>
          </p:cNvPr>
          <p:cNvSpPr/>
          <p:nvPr/>
        </p:nvSpPr>
        <p:spPr>
          <a:xfrm>
            <a:off x="6211895" y="175348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200" b="1" baseline="3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Case  —  Non-Elite Particles  (NP − M)</a:t>
            </a:r>
            <a:endParaRPr lang="en-US" sz="1200" dirty="0"/>
          </a:p>
        </p:txBody>
      </p:sp>
      <p:sp>
        <p:nvSpPr>
          <p:cNvPr id="66" name="Text 16">
            <a:extLst>
              <a:ext uri="{FF2B5EF4-FFF2-40B4-BE49-F238E27FC236}">
                <a16:creationId xmlns:a16="http://schemas.microsoft.com/office/drawing/2014/main" id="{B4266819-D0B2-8372-37FD-8C97D58279E9}"/>
              </a:ext>
            </a:extLst>
          </p:cNvPr>
          <p:cNvSpPr/>
          <p:nvPr/>
        </p:nvSpPr>
        <p:spPr>
          <a:xfrm>
            <a:off x="6349055" y="232041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Condition:</a:t>
            </a:r>
            <a:endParaRPr lang="en-US" sz="1100" dirty="0"/>
          </a:p>
        </p:txBody>
      </p:sp>
      <p:sp>
        <p:nvSpPr>
          <p:cNvPr id="67" name="Shape 17">
            <a:extLst>
              <a:ext uri="{FF2B5EF4-FFF2-40B4-BE49-F238E27FC236}">
                <a16:creationId xmlns:a16="http://schemas.microsoft.com/office/drawing/2014/main" id="{AABA6B2C-A521-7DD7-71FB-B112D32ABE46}"/>
              </a:ext>
            </a:extLst>
          </p:cNvPr>
          <p:cNvSpPr/>
          <p:nvPr/>
        </p:nvSpPr>
        <p:spPr>
          <a:xfrm>
            <a:off x="6321623" y="2622166"/>
            <a:ext cx="3931920" cy="566928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8" name="Text 18">
            <a:extLst>
              <a:ext uri="{FF2B5EF4-FFF2-40B4-BE49-F238E27FC236}">
                <a16:creationId xmlns:a16="http://schemas.microsoft.com/office/drawing/2014/main" id="{E551A290-D591-6A92-11FB-DC3AFDA242DF}"/>
              </a:ext>
            </a:extLst>
          </p:cNvPr>
          <p:cNvSpPr/>
          <p:nvPr/>
        </p:nvSpPr>
        <p:spPr>
          <a:xfrm>
            <a:off x="6321623" y="262216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f(xᵢ)  &lt;  f_worst(M)</a:t>
            </a:r>
            <a:endParaRPr lang="en-US" sz="1300" dirty="0"/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7A84A6FE-FED4-6175-62C1-3D5B33D17F67}"/>
              </a:ext>
            </a:extLst>
          </p:cNvPr>
          <p:cNvSpPr/>
          <p:nvPr/>
        </p:nvSpPr>
        <p:spPr>
          <a:xfrm>
            <a:off x="6349055" y="330796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8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(φ-blended update):</a:t>
            </a:r>
            <a:endParaRPr lang="en-US" sz="1100" dirty="0"/>
          </a:p>
        </p:txBody>
      </p:sp>
      <p:sp>
        <p:nvSpPr>
          <p:cNvPr id="70" name="Shape 20">
            <a:extLst>
              <a:ext uri="{FF2B5EF4-FFF2-40B4-BE49-F238E27FC236}">
                <a16:creationId xmlns:a16="http://schemas.microsoft.com/office/drawing/2014/main" id="{3EB02AA6-4BAF-9299-713D-72039F063D50}"/>
              </a:ext>
            </a:extLst>
          </p:cNvPr>
          <p:cNvSpPr/>
          <p:nvPr/>
        </p:nvSpPr>
        <p:spPr>
          <a:xfrm>
            <a:off x="6321623" y="3609718"/>
            <a:ext cx="393192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5E2B7380-4484-2D3D-736D-5D91B34018BE}"/>
              </a:ext>
            </a:extLst>
          </p:cNvPr>
          <p:cNvSpPr/>
          <p:nvPr/>
        </p:nvSpPr>
        <p:spPr>
          <a:xfrm>
            <a:off x="6321623" y="360971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vᵢ  =  ω·vᵢ + c₁r₁(pbest_i−xᵢ)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+  c₂r₂(Exp₂−xᵢ)</a:t>
            </a:r>
            <a:endParaRPr lang="en-US" sz="1100" dirty="0"/>
          </a:p>
        </p:txBody>
      </p:sp>
      <p:sp>
        <p:nvSpPr>
          <p:cNvPr id="72" name="Text 22">
            <a:extLst>
              <a:ext uri="{FF2B5EF4-FFF2-40B4-BE49-F238E27FC236}">
                <a16:creationId xmlns:a16="http://schemas.microsoft.com/office/drawing/2014/main" id="{FB2A751B-5B35-8A43-9EF7-9CF3B68C4E29}"/>
              </a:ext>
            </a:extLst>
          </p:cNvPr>
          <p:cNvSpPr/>
          <p:nvPr/>
        </p:nvSpPr>
        <p:spPr>
          <a:xfrm>
            <a:off x="6349055" y="4350382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particles apply the standard velocity update with φ ∈ [0,1] controlling the blending. They are guided toward the archive (Exp₂) instead of a single gbest.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55175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1">
            <a:extLst>
              <a:ext uri="{FF2B5EF4-FFF2-40B4-BE49-F238E27FC236}">
                <a16:creationId xmlns:a16="http://schemas.microsoft.com/office/drawing/2014/main" id="{7DE3C627-6ED9-B5CF-C82E-688FD05DFF3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9000">
                <a:schemeClr val="accent1">
                  <a:lumMod val="5000"/>
                  <a:lumOff val="95000"/>
                  <a:alpha val="90000"/>
                </a:schemeClr>
              </a:gs>
              <a:gs pos="59000">
                <a:schemeClr val="accent1">
                  <a:lumMod val="30000"/>
                  <a:lumOff val="70000"/>
                  <a:alpha val="9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图片 122">
            <a:extLst>
              <a:ext uri="{FF2B5EF4-FFF2-40B4-BE49-F238E27FC236}">
                <a16:creationId xmlns:a16="http://schemas.microsoft.com/office/drawing/2014/main" id="{88C03220-CA52-8B62-8455-9AE6F73E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3686" y="51450"/>
            <a:ext cx="2600559" cy="4837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6A1267-9557-5765-75FF-F1A4BEA11588}"/>
              </a:ext>
            </a:extLst>
          </p:cNvPr>
          <p:cNvSpPr txBox="1"/>
          <p:nvPr/>
        </p:nvSpPr>
        <p:spPr>
          <a:xfrm>
            <a:off x="2189444" y="636827"/>
            <a:ext cx="78131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LK" sz="3200" b="1" dirty="0">
                <a:latin typeface="+mj-lt"/>
              </a:rPr>
              <a:t>The </a:t>
            </a:r>
            <a:r>
              <a:rPr lang="en-US" sz="3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φ</a:t>
            </a:r>
            <a:r>
              <a:rPr lang="en-US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Parameter and Guidance Terms</a:t>
            </a:r>
            <a:endParaRPr lang="en-LK" sz="3200" dirty="0">
              <a:latin typeface="+mj-lt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3FA9933-7E17-7F24-D964-20C7B409BA9F}"/>
              </a:ext>
            </a:extLst>
          </p:cNvPr>
          <p:cNvSpPr/>
          <p:nvPr/>
        </p:nvSpPr>
        <p:spPr>
          <a:xfrm>
            <a:off x="1755081" y="1481985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notes annotate two different guidance sources (Exp₁ and Exp₂) circled in red/green, with the note 'better' pointing from Exp₁ to Exp₂. This means the algorithm tests different guidance strategies:</a:t>
            </a:r>
            <a:endParaRPr lang="en-US" sz="1250" dirty="0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B8975D6D-9D43-0D24-26A7-EB6AC908853D}"/>
              </a:ext>
            </a:extLst>
          </p:cNvPr>
          <p:cNvSpPr/>
          <p:nvPr/>
        </p:nvSpPr>
        <p:spPr>
          <a:xfrm>
            <a:off x="1709361" y="2122065"/>
            <a:ext cx="40690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0A703294-12F6-8845-9D42-106C18A7B3BC}"/>
              </a:ext>
            </a:extLst>
          </p:cNvPr>
          <p:cNvSpPr/>
          <p:nvPr/>
        </p:nvSpPr>
        <p:spPr>
          <a:xfrm>
            <a:off x="1709361" y="2122065"/>
            <a:ext cx="4069080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9CE4960A-F783-4A44-7D60-6E7A7B21CC8F}"/>
              </a:ext>
            </a:extLst>
          </p:cNvPr>
          <p:cNvSpPr/>
          <p:nvPr/>
        </p:nvSpPr>
        <p:spPr>
          <a:xfrm>
            <a:off x="1709361" y="2122065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Exp₁  —  Personal Best Direction</a:t>
            </a:r>
            <a:endParaRPr lang="en-US" sz="12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388E1B3B-FF1A-F294-76A6-D0CE8752F4F8}"/>
              </a:ext>
            </a:extLst>
          </p:cNvPr>
          <p:cNvSpPr/>
          <p:nvPr/>
        </p:nvSpPr>
        <p:spPr>
          <a:xfrm>
            <a:off x="1846521" y="2588409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particle's own pbest_i as guidance.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in notes as the weaker guidance source.</a:t>
            </a:r>
            <a:endParaRPr lang="en-US" sz="120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E8EE9BB3-B684-3F02-1D5E-744E6F188D78}"/>
              </a:ext>
            </a:extLst>
          </p:cNvPr>
          <p:cNvSpPr/>
          <p:nvPr/>
        </p:nvSpPr>
        <p:spPr>
          <a:xfrm>
            <a:off x="6144201" y="2122065"/>
            <a:ext cx="40690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B3C2E6ED-C31B-0D33-ADDB-0FF542DB6550}"/>
              </a:ext>
            </a:extLst>
          </p:cNvPr>
          <p:cNvSpPr/>
          <p:nvPr/>
        </p:nvSpPr>
        <p:spPr>
          <a:xfrm>
            <a:off x="6144201" y="2122065"/>
            <a:ext cx="4069080" cy="38404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112DA866-3D8A-B2F1-AF83-FA35294330D2}"/>
              </a:ext>
            </a:extLst>
          </p:cNvPr>
          <p:cNvSpPr/>
          <p:nvPr/>
        </p:nvSpPr>
        <p:spPr>
          <a:xfrm>
            <a:off x="6144201" y="2122065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Exp₂  —  Archive (Social) Direction  ← 'better'</a:t>
            </a:r>
            <a:endParaRPr lang="en-US" sz="1150" dirty="0"/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B974771F-67DF-387B-A414-F90345D6BA15}"/>
              </a:ext>
            </a:extLst>
          </p:cNvPr>
          <p:cNvSpPr/>
          <p:nvPr/>
        </p:nvSpPr>
        <p:spPr>
          <a:xfrm>
            <a:off x="6281361" y="2588409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randomly selected elite particle from the Top-M archive. Noted as the superior guidance source in the notes.</a:t>
            </a:r>
            <a:endParaRPr lang="en-US" sz="1200" dirty="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5B192F68-A328-2EBD-6CA0-8CAFAE449036}"/>
              </a:ext>
            </a:extLst>
          </p:cNvPr>
          <p:cNvSpPr/>
          <p:nvPr/>
        </p:nvSpPr>
        <p:spPr>
          <a:xfrm>
            <a:off x="1755081" y="3795417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φ Blending Parameter:</a:t>
            </a:r>
            <a:endParaRPr lang="en-US" sz="1300" dirty="0"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50A286A8-904F-2F45-C209-19F8454FDD83}"/>
              </a:ext>
            </a:extLst>
          </p:cNvPr>
          <p:cNvSpPr/>
          <p:nvPr/>
        </p:nvSpPr>
        <p:spPr>
          <a:xfrm>
            <a:off x="1755081" y="4197753"/>
            <a:ext cx="841248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C046B325-5354-FEFC-5507-FCE34E519DFA}"/>
              </a:ext>
            </a:extLst>
          </p:cNvPr>
          <p:cNvSpPr/>
          <p:nvPr/>
        </p:nvSpPr>
        <p:spPr>
          <a:xfrm>
            <a:off x="1755081" y="4197753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φ  ∈  [0, 1]   →   tested: 0.1, 0.2, 0.3, … 0.9</a:t>
            </a:r>
            <a:endParaRPr lang="en-US" sz="1500" dirty="0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52A90EA5-125B-DEB4-76BC-F8A444330974}"/>
              </a:ext>
            </a:extLst>
          </p:cNvPr>
          <p:cNvSpPr/>
          <p:nvPr/>
        </p:nvSpPr>
        <p:spPr>
          <a:xfrm>
            <a:off x="1755081" y="4892697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controls how strongly the archive (Exp₂) guidance influences the velocity update for non-elite particles. A systematic grid search over φ = {0.1, 0.2, ..., 0.9} will determine the optimal blending ratio for CEC 2017 test functions.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506848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11">
            <a:extLst>
              <a:ext uri="{FF2B5EF4-FFF2-40B4-BE49-F238E27FC236}">
                <a16:creationId xmlns:a16="http://schemas.microsoft.com/office/drawing/2014/main" id="{7DE3C627-6ED9-B5CF-C82E-688FD05DFF3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9000">
                <a:schemeClr val="accent1">
                  <a:lumMod val="5000"/>
                  <a:lumOff val="95000"/>
                  <a:alpha val="90000"/>
                </a:schemeClr>
              </a:gs>
              <a:gs pos="59000">
                <a:schemeClr val="accent1">
                  <a:lumMod val="30000"/>
                  <a:lumOff val="70000"/>
                  <a:alpha val="9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5" name="图片 122">
            <a:extLst>
              <a:ext uri="{FF2B5EF4-FFF2-40B4-BE49-F238E27FC236}">
                <a16:creationId xmlns:a16="http://schemas.microsoft.com/office/drawing/2014/main" id="{88C03220-CA52-8B62-8455-9AE6F73E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3686" y="51450"/>
            <a:ext cx="2600559" cy="4837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6A1267-9557-5765-75FF-F1A4BEA11588}"/>
              </a:ext>
            </a:extLst>
          </p:cNvPr>
          <p:cNvSpPr txBox="1"/>
          <p:nvPr/>
        </p:nvSpPr>
        <p:spPr>
          <a:xfrm>
            <a:off x="2110523" y="482060"/>
            <a:ext cx="79709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effectLst/>
                <a:latin typeface="+mj-lt"/>
              </a:rPr>
              <a:t>Modification Plan and Implementation Plan</a:t>
            </a:r>
            <a:endParaRPr lang="en-LK" sz="3200" dirty="0">
              <a:latin typeface="+mj-lt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27E0484-431B-344C-C819-FEC88F66722A}"/>
              </a:ext>
            </a:extLst>
          </p:cNvPr>
          <p:cNvSpPr/>
          <p:nvPr/>
        </p:nvSpPr>
        <p:spPr>
          <a:xfrm>
            <a:off x="327129" y="1592804"/>
            <a:ext cx="302874" cy="374024"/>
          </a:xfrm>
          <a:prstGeom prst="ellipse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E26792A-D2F7-82D3-8213-64397AE64060}"/>
              </a:ext>
            </a:extLst>
          </p:cNvPr>
          <p:cNvSpPr/>
          <p:nvPr/>
        </p:nvSpPr>
        <p:spPr>
          <a:xfrm>
            <a:off x="327129" y="1592804"/>
            <a:ext cx="302874" cy="37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21DC38C4-6FE8-FBD4-85C7-E6E3ABF21B68}"/>
              </a:ext>
            </a:extLst>
          </p:cNvPr>
          <p:cNvSpPr/>
          <p:nvPr/>
        </p:nvSpPr>
        <p:spPr>
          <a:xfrm>
            <a:off x="875769" y="1620236"/>
            <a:ext cx="5489589" cy="327271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A0153D78-3723-C4BF-93FF-0DDB917942DC}"/>
              </a:ext>
            </a:extLst>
          </p:cNvPr>
          <p:cNvSpPr/>
          <p:nvPr/>
        </p:nvSpPr>
        <p:spPr>
          <a:xfrm>
            <a:off x="1012929" y="1620236"/>
            <a:ext cx="5331842" cy="3272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NP particles with random positions xᵢ ∈ search space, random velocities vᵢ</a:t>
            </a:r>
            <a:endParaRPr lang="en-US" sz="115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F9A5EAC-0799-AD3A-A772-5D3D1EBFE956}"/>
              </a:ext>
            </a:extLst>
          </p:cNvPr>
          <p:cNvSpPr/>
          <p:nvPr/>
        </p:nvSpPr>
        <p:spPr>
          <a:xfrm>
            <a:off x="327129" y="2196308"/>
            <a:ext cx="302874" cy="374024"/>
          </a:xfrm>
          <a:prstGeom prst="ellipse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294BD544-E26B-7BA5-0C5E-5946E914BAC3}"/>
              </a:ext>
            </a:extLst>
          </p:cNvPr>
          <p:cNvSpPr/>
          <p:nvPr/>
        </p:nvSpPr>
        <p:spPr>
          <a:xfrm>
            <a:off x="327129" y="2196308"/>
            <a:ext cx="302874" cy="37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D5886D53-4118-E7D8-16AD-8AD71258C8C8}"/>
              </a:ext>
            </a:extLst>
          </p:cNvPr>
          <p:cNvSpPr/>
          <p:nvPr/>
        </p:nvSpPr>
        <p:spPr>
          <a:xfrm>
            <a:off x="875769" y="2223740"/>
            <a:ext cx="5489589" cy="327271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6D09A942-D00F-2DB8-DF1F-0F006C405474}"/>
              </a:ext>
            </a:extLst>
          </p:cNvPr>
          <p:cNvSpPr/>
          <p:nvPr/>
        </p:nvSpPr>
        <p:spPr>
          <a:xfrm>
            <a:off x="1012929" y="2223740"/>
            <a:ext cx="5331842" cy="3272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fitness f(xᵢ) for all particles. Set pbest_i = xᵢ, gbest = best of all xᵢ</a:t>
            </a:r>
            <a:endParaRPr lang="en-US" sz="115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0D54053D-6C3C-48D1-60F3-DAA3AB8B4606}"/>
              </a:ext>
            </a:extLst>
          </p:cNvPr>
          <p:cNvSpPr/>
          <p:nvPr/>
        </p:nvSpPr>
        <p:spPr>
          <a:xfrm>
            <a:off x="327129" y="2799812"/>
            <a:ext cx="302874" cy="374024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3D97A812-8700-BF3C-661E-E41FD6373D8D}"/>
              </a:ext>
            </a:extLst>
          </p:cNvPr>
          <p:cNvSpPr/>
          <p:nvPr/>
        </p:nvSpPr>
        <p:spPr>
          <a:xfrm>
            <a:off x="327129" y="2799812"/>
            <a:ext cx="302874" cy="37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3D013811-42FD-3EB4-996B-0E26456A4C2F}"/>
              </a:ext>
            </a:extLst>
          </p:cNvPr>
          <p:cNvSpPr/>
          <p:nvPr/>
        </p:nvSpPr>
        <p:spPr>
          <a:xfrm>
            <a:off x="875769" y="2827244"/>
            <a:ext cx="5489589" cy="327271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728BB253-3C56-3E6F-3752-39810C23D6D6}"/>
              </a:ext>
            </a:extLst>
          </p:cNvPr>
          <p:cNvSpPr/>
          <p:nvPr/>
        </p:nvSpPr>
        <p:spPr>
          <a:xfrm>
            <a:off x="1012929" y="2827244"/>
            <a:ext cx="5331842" cy="3272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Archive: rank all particles by f(xᵢ). Select top M = ⌊p × NP⌋ → elite archive</a:t>
            </a:r>
            <a:endParaRPr lang="en-US" sz="1150" dirty="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D611EFC9-323F-BD6C-7B65-163D22C49CD2}"/>
              </a:ext>
            </a:extLst>
          </p:cNvPr>
          <p:cNvSpPr/>
          <p:nvPr/>
        </p:nvSpPr>
        <p:spPr>
          <a:xfrm>
            <a:off x="327129" y="3403316"/>
            <a:ext cx="302874" cy="374024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EE9DC6CB-C5AC-761E-2495-0E99B7FCA28E}"/>
              </a:ext>
            </a:extLst>
          </p:cNvPr>
          <p:cNvSpPr/>
          <p:nvPr/>
        </p:nvSpPr>
        <p:spPr>
          <a:xfrm>
            <a:off x="327129" y="3403316"/>
            <a:ext cx="302874" cy="37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BD3D532-B1F5-5B41-D08A-B3174E5BBA85}"/>
              </a:ext>
            </a:extLst>
          </p:cNvPr>
          <p:cNvSpPr/>
          <p:nvPr/>
        </p:nvSpPr>
        <p:spPr>
          <a:xfrm>
            <a:off x="875769" y="3430748"/>
            <a:ext cx="5489589" cy="327271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6D358C44-96BF-2BB1-DA87-27894301EEC0}"/>
              </a:ext>
            </a:extLst>
          </p:cNvPr>
          <p:cNvSpPr/>
          <p:nvPr/>
        </p:nvSpPr>
        <p:spPr>
          <a:xfrm>
            <a:off x="1012929" y="3430748"/>
            <a:ext cx="5331842" cy="3272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particle i:  if f(xᵢ) ≥ f_worst(M)  →  1</a:t>
            </a:r>
            <a:r>
              <a:rPr lang="en-US" sz="1150" baseline="30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Case: skip update (preserve elite)</a:t>
            </a:r>
            <a:endParaRPr lang="en-US" sz="1150" dirty="0"/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A17B0F43-169C-6023-A74D-13F0326F81AB}"/>
              </a:ext>
            </a:extLst>
          </p:cNvPr>
          <p:cNvSpPr/>
          <p:nvPr/>
        </p:nvSpPr>
        <p:spPr>
          <a:xfrm>
            <a:off x="327129" y="4006820"/>
            <a:ext cx="302874" cy="374024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6FADE0CE-7218-2349-824A-E0A0A30123EB}"/>
              </a:ext>
            </a:extLst>
          </p:cNvPr>
          <p:cNvSpPr/>
          <p:nvPr/>
        </p:nvSpPr>
        <p:spPr>
          <a:xfrm>
            <a:off x="327129" y="4006820"/>
            <a:ext cx="302874" cy="37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788A4828-1FF5-C9A6-515C-3E8EB38073E4}"/>
              </a:ext>
            </a:extLst>
          </p:cNvPr>
          <p:cNvSpPr/>
          <p:nvPr/>
        </p:nvSpPr>
        <p:spPr>
          <a:xfrm>
            <a:off x="875769" y="4034252"/>
            <a:ext cx="5489589" cy="327271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CCB00A90-5A31-B118-D494-8067E49A3868}"/>
              </a:ext>
            </a:extLst>
          </p:cNvPr>
          <p:cNvSpPr/>
          <p:nvPr/>
        </p:nvSpPr>
        <p:spPr>
          <a:xfrm>
            <a:off x="1012929" y="4034252"/>
            <a:ext cx="5331842" cy="3272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 →  2</a:t>
            </a:r>
            <a:r>
              <a:rPr lang="en-US" sz="1150" baseline="30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Case: update vᵢ using ω, c₁, r₁, c₂, r₂, φ with Exp₂ from archive</a:t>
            </a:r>
            <a:endParaRPr lang="en-US" sz="1150" dirty="0"/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501FF389-B285-BED3-35F4-921BB14911B0}"/>
              </a:ext>
            </a:extLst>
          </p:cNvPr>
          <p:cNvSpPr/>
          <p:nvPr/>
        </p:nvSpPr>
        <p:spPr>
          <a:xfrm>
            <a:off x="327129" y="4610324"/>
            <a:ext cx="302874" cy="37402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20F5FAF1-56C8-50BC-8F96-99A9F274C3BE}"/>
              </a:ext>
            </a:extLst>
          </p:cNvPr>
          <p:cNvSpPr/>
          <p:nvPr/>
        </p:nvSpPr>
        <p:spPr>
          <a:xfrm>
            <a:off x="327129" y="4610324"/>
            <a:ext cx="302874" cy="37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BA466E0D-F9C5-83F2-C6C3-85DF49D148D9}"/>
              </a:ext>
            </a:extLst>
          </p:cNvPr>
          <p:cNvSpPr/>
          <p:nvPr/>
        </p:nvSpPr>
        <p:spPr>
          <a:xfrm>
            <a:off x="875769" y="4637756"/>
            <a:ext cx="5489589" cy="327271"/>
          </a:xfrm>
          <a:prstGeom prst="rect">
            <a:avLst/>
          </a:prstGeom>
          <a:solidFill>
            <a:srgbClr val="FFFFFF"/>
          </a:solidFill>
          <a:ln w="12700">
            <a:solidFill>
              <a:srgbClr val="F72585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6C5E1523-C835-62B0-146C-734080067897}"/>
              </a:ext>
            </a:extLst>
          </p:cNvPr>
          <p:cNvSpPr/>
          <p:nvPr/>
        </p:nvSpPr>
        <p:spPr>
          <a:xfrm>
            <a:off x="1012929" y="4637756"/>
            <a:ext cx="5331842" cy="3272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position: xᵢ = xᵢ + vᵢ. Update pbest_i if f(xᵢ_new) &lt; f(pbest_i)</a:t>
            </a:r>
            <a:endParaRPr lang="en-US" sz="1150" dirty="0"/>
          </a:p>
        </p:txBody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6E835342-BA9C-3E18-C730-11DCD789A2CE}"/>
              </a:ext>
            </a:extLst>
          </p:cNvPr>
          <p:cNvSpPr/>
          <p:nvPr/>
        </p:nvSpPr>
        <p:spPr>
          <a:xfrm>
            <a:off x="327129" y="5213828"/>
            <a:ext cx="302874" cy="37402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D28627F5-1813-311D-3DB5-5E7F8C1A2956}"/>
              </a:ext>
            </a:extLst>
          </p:cNvPr>
          <p:cNvSpPr/>
          <p:nvPr/>
        </p:nvSpPr>
        <p:spPr>
          <a:xfrm>
            <a:off x="327129" y="5213828"/>
            <a:ext cx="302874" cy="374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865DB6BE-0C0E-36DA-C89D-685B2FE83496}"/>
              </a:ext>
            </a:extLst>
          </p:cNvPr>
          <p:cNvSpPr/>
          <p:nvPr/>
        </p:nvSpPr>
        <p:spPr>
          <a:xfrm>
            <a:off x="875769" y="5241260"/>
            <a:ext cx="5489589" cy="327271"/>
          </a:xfrm>
          <a:prstGeom prst="rect">
            <a:avLst/>
          </a:prstGeom>
          <a:solidFill>
            <a:srgbClr val="FFFFFF"/>
          </a:solidFill>
          <a:ln w="12700">
            <a:solidFill>
              <a:srgbClr val="F72585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88E37647-06CD-2798-C092-3499DDCDBE52}"/>
              </a:ext>
            </a:extLst>
          </p:cNvPr>
          <p:cNvSpPr/>
          <p:nvPr/>
        </p:nvSpPr>
        <p:spPr>
          <a:xfrm>
            <a:off x="1012929" y="5241260"/>
            <a:ext cx="5331842" cy="3272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steps 3 - 6 for T iterations. Record best solution found.</a:t>
            </a:r>
            <a:endParaRPr lang="en-US" sz="1150" dirty="0"/>
          </a:p>
        </p:txBody>
      </p:sp>
      <p:sp>
        <p:nvSpPr>
          <p:cNvPr id="35" name="Shape 2">
            <a:extLst>
              <a:ext uri="{FF2B5EF4-FFF2-40B4-BE49-F238E27FC236}">
                <a16:creationId xmlns:a16="http://schemas.microsoft.com/office/drawing/2014/main" id="{04251055-3808-0506-7551-DE10A71F52AD}"/>
              </a:ext>
            </a:extLst>
          </p:cNvPr>
          <p:cNvSpPr/>
          <p:nvPr/>
        </p:nvSpPr>
        <p:spPr>
          <a:xfrm>
            <a:off x="6538691" y="1615113"/>
            <a:ext cx="270100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86FF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497B0E5C-621C-3079-52B8-D75147A4DC31}"/>
              </a:ext>
            </a:extLst>
          </p:cNvPr>
          <p:cNvSpPr/>
          <p:nvPr/>
        </p:nvSpPr>
        <p:spPr>
          <a:xfrm>
            <a:off x="6538691" y="1615113"/>
            <a:ext cx="2701002" cy="411480"/>
          </a:xfrm>
          <a:prstGeom prst="rect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37" name="Text 4">
            <a:extLst>
              <a:ext uri="{FF2B5EF4-FFF2-40B4-BE49-F238E27FC236}">
                <a16:creationId xmlns:a16="http://schemas.microsoft.com/office/drawing/2014/main" id="{4BB8D6A3-D920-C34D-95EE-B33500DABF1D}"/>
              </a:ext>
            </a:extLst>
          </p:cNvPr>
          <p:cNvSpPr/>
          <p:nvPr/>
        </p:nvSpPr>
        <p:spPr>
          <a:xfrm>
            <a:off x="6538691" y="1615113"/>
            <a:ext cx="27010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Standard PSO Baseline</a:t>
            </a:r>
            <a:endParaRPr lang="en-US" sz="1200" dirty="0"/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7F28EA4E-517C-1243-CA07-15C31DE29F7E}"/>
              </a:ext>
            </a:extLst>
          </p:cNvPr>
          <p:cNvSpPr/>
          <p:nvPr/>
        </p:nvSpPr>
        <p:spPr>
          <a:xfrm>
            <a:off x="6573015" y="2090601"/>
            <a:ext cx="255694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standard PSO: initialize NP particles, velocity update (ω, c₁, c₂, r₁, r₂), pbest &amp; gbest tracking. Validate on simple benchmark (Sphere function).</a:t>
            </a:r>
            <a:endParaRPr lang="en-US" sz="1100" dirty="0"/>
          </a:p>
        </p:txBody>
      </p:sp>
      <p:sp>
        <p:nvSpPr>
          <p:cNvPr id="39" name="Shape 6">
            <a:extLst>
              <a:ext uri="{FF2B5EF4-FFF2-40B4-BE49-F238E27FC236}">
                <a16:creationId xmlns:a16="http://schemas.microsoft.com/office/drawing/2014/main" id="{55DC95BE-04C7-4B88-4A77-909E596E93D9}"/>
              </a:ext>
            </a:extLst>
          </p:cNvPr>
          <p:cNvSpPr/>
          <p:nvPr/>
        </p:nvSpPr>
        <p:spPr>
          <a:xfrm>
            <a:off x="9326359" y="1686371"/>
            <a:ext cx="2701002" cy="1690446"/>
          </a:xfrm>
          <a:prstGeom prst="rect">
            <a:avLst/>
          </a:prstGeom>
          <a:solidFill>
            <a:srgbClr val="FFFFFF"/>
          </a:solidFill>
          <a:ln w="12700">
            <a:solidFill>
              <a:srgbClr val="06D6A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7">
            <a:extLst>
              <a:ext uri="{FF2B5EF4-FFF2-40B4-BE49-F238E27FC236}">
                <a16:creationId xmlns:a16="http://schemas.microsoft.com/office/drawing/2014/main" id="{7099615A-7767-D49A-4D3B-DEF87BCB6448}"/>
              </a:ext>
            </a:extLst>
          </p:cNvPr>
          <p:cNvSpPr/>
          <p:nvPr/>
        </p:nvSpPr>
        <p:spPr>
          <a:xfrm>
            <a:off x="9326359" y="1615113"/>
            <a:ext cx="2701002" cy="390103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4FC4143D-9640-E41A-335D-DAF528D85F6B}"/>
              </a:ext>
            </a:extLst>
          </p:cNvPr>
          <p:cNvSpPr/>
          <p:nvPr/>
        </p:nvSpPr>
        <p:spPr>
          <a:xfrm>
            <a:off x="9326359" y="1615113"/>
            <a:ext cx="2701002" cy="390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Add Elite Archive (Top-M)</a:t>
            </a:r>
            <a:endParaRPr lang="en-US" sz="1200" dirty="0"/>
          </a:p>
        </p:txBody>
      </p:sp>
      <p:sp>
        <p:nvSpPr>
          <p:cNvPr id="42" name="Text 9">
            <a:extLst>
              <a:ext uri="{FF2B5EF4-FFF2-40B4-BE49-F238E27FC236}">
                <a16:creationId xmlns:a16="http://schemas.microsoft.com/office/drawing/2014/main" id="{34D19336-A883-2920-8C30-97FE166D8068}"/>
              </a:ext>
            </a:extLst>
          </p:cNvPr>
          <p:cNvSpPr/>
          <p:nvPr/>
        </p:nvSpPr>
        <p:spPr>
          <a:xfrm>
            <a:off x="9360683" y="2133355"/>
            <a:ext cx="2556949" cy="11703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archive: sort particles by fitness, select top M = ⌊p×NP⌋. Code two-case update logic. Test the condition f(xᵢ) ≥ f_worst(M).</a:t>
            </a:r>
            <a:endParaRPr lang="en-US" sz="1100" dirty="0"/>
          </a:p>
        </p:txBody>
      </p:sp>
      <p:sp>
        <p:nvSpPr>
          <p:cNvPr id="43" name="Shape 10">
            <a:extLst>
              <a:ext uri="{FF2B5EF4-FFF2-40B4-BE49-F238E27FC236}">
                <a16:creationId xmlns:a16="http://schemas.microsoft.com/office/drawing/2014/main" id="{75FF74B4-6E49-C104-4A78-A4A26835E065}"/>
              </a:ext>
            </a:extLst>
          </p:cNvPr>
          <p:cNvSpPr/>
          <p:nvPr/>
        </p:nvSpPr>
        <p:spPr>
          <a:xfrm>
            <a:off x="6538691" y="3626793"/>
            <a:ext cx="270100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72585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4" name="Shape 11">
            <a:extLst>
              <a:ext uri="{FF2B5EF4-FFF2-40B4-BE49-F238E27FC236}">
                <a16:creationId xmlns:a16="http://schemas.microsoft.com/office/drawing/2014/main" id="{B6035837-49E5-01C5-0E09-5EFB28C645AC}"/>
              </a:ext>
            </a:extLst>
          </p:cNvPr>
          <p:cNvSpPr/>
          <p:nvPr/>
        </p:nvSpPr>
        <p:spPr>
          <a:xfrm>
            <a:off x="6538691" y="3626793"/>
            <a:ext cx="2701002" cy="41148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3596EC4E-6F58-E12F-F3AF-80A6A4D721A3}"/>
              </a:ext>
            </a:extLst>
          </p:cNvPr>
          <p:cNvSpPr/>
          <p:nvPr/>
        </p:nvSpPr>
        <p:spPr>
          <a:xfrm>
            <a:off x="6538691" y="3626793"/>
            <a:ext cx="27010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φ Parameter Integration &amp; Tuning</a:t>
            </a:r>
            <a:endParaRPr lang="en-US" sz="1200" dirty="0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3847A9B5-7DD2-39A0-B5DC-3D7EE7EF105C}"/>
              </a:ext>
            </a:extLst>
          </p:cNvPr>
          <p:cNvSpPr/>
          <p:nvPr/>
        </p:nvSpPr>
        <p:spPr>
          <a:xfrm>
            <a:off x="6573015" y="4102281"/>
            <a:ext cx="255694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φ ∈ [0,1] to 2</a:t>
            </a:r>
            <a:r>
              <a:rPr lang="en-US" sz="1100" baseline="30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Case update. Run grid search: φ = 0.1, 0.2 ... 0.9. Compare convergence speed and final fitness across φ values.</a:t>
            </a:r>
            <a:endParaRPr lang="en-US" sz="1100" dirty="0"/>
          </a:p>
        </p:txBody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E15A8059-E272-1CB6-6324-325640035E1F}"/>
              </a:ext>
            </a:extLst>
          </p:cNvPr>
          <p:cNvSpPr/>
          <p:nvPr/>
        </p:nvSpPr>
        <p:spPr>
          <a:xfrm>
            <a:off x="9326359" y="3698051"/>
            <a:ext cx="2701002" cy="1690446"/>
          </a:xfrm>
          <a:prstGeom prst="rect">
            <a:avLst/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Shape 15">
            <a:extLst>
              <a:ext uri="{FF2B5EF4-FFF2-40B4-BE49-F238E27FC236}">
                <a16:creationId xmlns:a16="http://schemas.microsoft.com/office/drawing/2014/main" id="{05CB6F59-B682-CF58-98CE-ED69F2176970}"/>
              </a:ext>
            </a:extLst>
          </p:cNvPr>
          <p:cNvSpPr/>
          <p:nvPr/>
        </p:nvSpPr>
        <p:spPr>
          <a:xfrm>
            <a:off x="9326359" y="3626793"/>
            <a:ext cx="2701002" cy="390103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9" name="Text 16">
            <a:extLst>
              <a:ext uri="{FF2B5EF4-FFF2-40B4-BE49-F238E27FC236}">
                <a16:creationId xmlns:a16="http://schemas.microsoft.com/office/drawing/2014/main" id="{24497525-6D37-B348-620F-DBEE7257B11C}"/>
              </a:ext>
            </a:extLst>
          </p:cNvPr>
          <p:cNvSpPr/>
          <p:nvPr/>
        </p:nvSpPr>
        <p:spPr>
          <a:xfrm>
            <a:off x="9326359" y="3626793"/>
            <a:ext cx="2701002" cy="390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CEC 2017 Full Evaluation</a:t>
            </a:r>
            <a:endParaRPr lang="en-US" sz="1200" dirty="0"/>
          </a:p>
        </p:txBody>
      </p:sp>
      <p:sp>
        <p:nvSpPr>
          <p:cNvPr id="50" name="Text 17">
            <a:extLst>
              <a:ext uri="{FF2B5EF4-FFF2-40B4-BE49-F238E27FC236}">
                <a16:creationId xmlns:a16="http://schemas.microsoft.com/office/drawing/2014/main" id="{BBFA7C54-27F2-A567-45DC-5BD72665A50F}"/>
              </a:ext>
            </a:extLst>
          </p:cNvPr>
          <p:cNvSpPr/>
          <p:nvPr/>
        </p:nvSpPr>
        <p:spPr>
          <a:xfrm>
            <a:off x="9360683" y="4145035"/>
            <a:ext cx="2556949" cy="11703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all 29 CEC 2017 test functions. Run Standard PSO vs Modified PSO comparison. Record mean, std, convergence curves. Final report.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456060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34528</TotalTime>
  <Words>1321</Words>
  <Application>Microsoft Macintosh PowerPoint</Application>
  <PresentationFormat>Widescreen</PresentationFormat>
  <Paragraphs>121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Minidu Wickramaarachchi</dc:creator>
  <cp:lastModifiedBy>Minidu Wickramaarachchi</cp:lastModifiedBy>
  <cp:revision>72</cp:revision>
  <cp:lastPrinted>2025-10-21T02:45:41Z</cp:lastPrinted>
  <dcterms:created xsi:type="dcterms:W3CDTF">2025-09-08T04:43:51Z</dcterms:created>
  <dcterms:modified xsi:type="dcterms:W3CDTF">2026-04-27T13:03:58Z</dcterms:modified>
</cp:coreProperties>
</file>
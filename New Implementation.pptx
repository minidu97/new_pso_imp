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9" r:id="rId7"/>
    <p:sldId id="261" r:id="rId8"/>
    <p:sldId id="262" r:id="rId9"/>
    <p:sldId id="270" r:id="rId10"/>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79343"/>
  </p:normalViewPr>
  <p:slideViewPr>
    <p:cSldViewPr snapToGrid="0">
      <p:cViewPr varScale="1">
        <p:scale>
          <a:sx n="180" d="100"/>
          <a:sy n="180" d="100"/>
        </p:scale>
        <p:origin x="30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0233AF-A175-2D44-9522-2C15E09DF5D8}" type="datetimeFigureOut">
              <a:rPr lang="en-LK" smtClean="0"/>
              <a:t>2026-04-27</a:t>
            </a:fld>
            <a:endParaRPr lang="en-L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5D973A-524B-9A4E-B824-03E276179D51}" type="slidenum">
              <a:rPr lang="en-LK" smtClean="0"/>
              <a:t>‹#›</a:t>
            </a:fld>
            <a:endParaRPr lang="en-LK"/>
          </a:p>
        </p:txBody>
      </p:sp>
    </p:spTree>
    <p:extLst>
      <p:ext uri="{BB962C8B-B14F-4D97-AF65-F5344CB8AC3E}">
        <p14:creationId xmlns:p14="http://schemas.microsoft.com/office/powerpoint/2010/main" val="2700918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BE5D973A-524B-9A4E-B824-03E276179D51}" type="slidenum">
              <a:rPr lang="en-LK" smtClean="0"/>
              <a:t>7</a:t>
            </a:fld>
            <a:endParaRPr lang="en-LK"/>
          </a:p>
        </p:txBody>
      </p:sp>
    </p:spTree>
    <p:extLst>
      <p:ext uri="{BB962C8B-B14F-4D97-AF65-F5344CB8AC3E}">
        <p14:creationId xmlns:p14="http://schemas.microsoft.com/office/powerpoint/2010/main" val="707715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BE5D973A-524B-9A4E-B824-03E276179D51}" type="slidenum">
              <a:rPr lang="en-LK" smtClean="0"/>
              <a:t>8</a:t>
            </a:fld>
            <a:endParaRPr lang="en-LK"/>
          </a:p>
        </p:txBody>
      </p:sp>
    </p:spTree>
    <p:extLst>
      <p:ext uri="{BB962C8B-B14F-4D97-AF65-F5344CB8AC3E}">
        <p14:creationId xmlns:p14="http://schemas.microsoft.com/office/powerpoint/2010/main" val="637997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K" dirty="0"/>
          </a:p>
        </p:txBody>
      </p:sp>
      <p:sp>
        <p:nvSpPr>
          <p:cNvPr id="4" name="Slide Number Placeholder 3"/>
          <p:cNvSpPr>
            <a:spLocks noGrp="1"/>
          </p:cNvSpPr>
          <p:nvPr>
            <p:ph type="sldNum" sz="quarter" idx="5"/>
          </p:nvPr>
        </p:nvSpPr>
        <p:spPr/>
        <p:txBody>
          <a:bodyPr/>
          <a:lstStyle/>
          <a:p>
            <a:fld id="{BE5D973A-524B-9A4E-B824-03E276179D51}" type="slidenum">
              <a:rPr lang="en-LK" smtClean="0"/>
              <a:t>9</a:t>
            </a:fld>
            <a:endParaRPr lang="en-LK"/>
          </a:p>
        </p:txBody>
      </p:sp>
    </p:spTree>
    <p:extLst>
      <p:ext uri="{BB962C8B-B14F-4D97-AF65-F5344CB8AC3E}">
        <p14:creationId xmlns:p14="http://schemas.microsoft.com/office/powerpoint/2010/main" val="3748885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34E16-36D7-545A-9792-36535862D71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5A3DE352-4CC6-C501-CF57-E0691696A1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8D11E92C-9016-A675-8779-2FCE71423D22}"/>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C3FC3847-F20A-D832-B454-B4A01FCF97F8}"/>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4E4AAEC9-A8D3-F184-7B73-A487CB40E45A}"/>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3514759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0683-6AF5-FF90-5C13-EE482068233E}"/>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31AA8253-7A5C-4E59-7333-19E7F44E8C5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C6241247-F1D3-0EA7-932F-A209EEC78F7A}"/>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45233974-4DA5-7CF5-1961-D661BA672D39}"/>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56FC6865-744C-7421-1B04-602874F07DD4}"/>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541376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AA910-78F5-CCBD-496D-DC352AE7CF9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D32CC886-5590-EE51-6ABB-AD955616FA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3A9207-F106-C1AD-CC39-085BB3E99151}"/>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E3B933AE-6206-A313-5170-4EA5E249BE38}"/>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A7B3D157-61B3-EAFA-1D07-380524157565}"/>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2168024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51BEC-B65D-B5C8-7CEC-64EFEBC9ECB7}"/>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C85EA25C-329B-0F82-C5BF-CC49000753B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B9E4AECC-93F3-240A-77F9-62AAED795A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2F216E90-5C7C-715B-5DE5-108552008948}"/>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6" name="Footer Placeholder 5">
            <a:extLst>
              <a:ext uri="{FF2B5EF4-FFF2-40B4-BE49-F238E27FC236}">
                <a16:creationId xmlns:a16="http://schemas.microsoft.com/office/drawing/2014/main" id="{2DB4E77D-1427-968D-3A55-2DA855B6B555}"/>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8B83E7E8-35DE-BC1B-3A37-AA6636C31157}"/>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1643963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FA41-BC08-068A-DA8C-D765884F084C}"/>
              </a:ext>
            </a:extLst>
          </p:cNvPr>
          <p:cNvSpPr>
            <a:spLocks noGrp="1"/>
          </p:cNvSpPr>
          <p:nvPr>
            <p:ph type="title"/>
          </p:nvPr>
        </p:nvSpPr>
        <p:spPr>
          <a:xfrm>
            <a:off x="839788" y="365125"/>
            <a:ext cx="105156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9B150A8E-AED6-2375-F248-FF69DF47BE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065B65-1CF0-36E9-E4E7-723F550C0E9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D840CBC3-6275-2CA0-B0EE-C8F370EBD0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ED6857-5437-E0F7-5930-FA04F53009B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C4BC45CD-CA99-A82D-10FF-60CEE936F11B}"/>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8" name="Footer Placeholder 7">
            <a:extLst>
              <a:ext uri="{FF2B5EF4-FFF2-40B4-BE49-F238E27FC236}">
                <a16:creationId xmlns:a16="http://schemas.microsoft.com/office/drawing/2014/main" id="{491A6379-F5E0-D16C-39A4-D532A1653747}"/>
              </a:ext>
            </a:extLst>
          </p:cNvPr>
          <p:cNvSpPr>
            <a:spLocks noGrp="1"/>
          </p:cNvSpPr>
          <p:nvPr>
            <p:ph type="ftr" sz="quarter" idx="11"/>
          </p:nvPr>
        </p:nvSpPr>
        <p:spPr/>
        <p:txBody>
          <a:bodyPr/>
          <a:lstStyle/>
          <a:p>
            <a:endParaRPr lang="en-LK"/>
          </a:p>
        </p:txBody>
      </p:sp>
      <p:sp>
        <p:nvSpPr>
          <p:cNvPr id="9" name="Slide Number Placeholder 8">
            <a:extLst>
              <a:ext uri="{FF2B5EF4-FFF2-40B4-BE49-F238E27FC236}">
                <a16:creationId xmlns:a16="http://schemas.microsoft.com/office/drawing/2014/main" id="{E3CB1B09-C888-5E7B-956E-B47A5E04B1A7}"/>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284770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F5ED-CD39-A4BC-678A-E175006A01B7}"/>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B7C1AD64-7401-7AE5-CE8E-3C628FBE4EA1}"/>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4" name="Footer Placeholder 3">
            <a:extLst>
              <a:ext uri="{FF2B5EF4-FFF2-40B4-BE49-F238E27FC236}">
                <a16:creationId xmlns:a16="http://schemas.microsoft.com/office/drawing/2014/main" id="{9D667825-6290-00E3-0DF3-207E501EDBE6}"/>
              </a:ext>
            </a:extLst>
          </p:cNvPr>
          <p:cNvSpPr>
            <a:spLocks noGrp="1"/>
          </p:cNvSpPr>
          <p:nvPr>
            <p:ph type="ftr" sz="quarter" idx="11"/>
          </p:nvPr>
        </p:nvSpPr>
        <p:spPr/>
        <p:txBody>
          <a:bodyPr/>
          <a:lstStyle/>
          <a:p>
            <a:endParaRPr lang="en-LK"/>
          </a:p>
        </p:txBody>
      </p:sp>
      <p:sp>
        <p:nvSpPr>
          <p:cNvPr id="5" name="Slide Number Placeholder 4">
            <a:extLst>
              <a:ext uri="{FF2B5EF4-FFF2-40B4-BE49-F238E27FC236}">
                <a16:creationId xmlns:a16="http://schemas.microsoft.com/office/drawing/2014/main" id="{B866BF1A-D10C-5B78-2F2C-BE6851DFE288}"/>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474879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5AD15C-81F5-0F2C-F9C8-FDE94A434D5A}"/>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3" name="Footer Placeholder 2">
            <a:extLst>
              <a:ext uri="{FF2B5EF4-FFF2-40B4-BE49-F238E27FC236}">
                <a16:creationId xmlns:a16="http://schemas.microsoft.com/office/drawing/2014/main" id="{3D836AF8-CB25-056E-4BC0-DF5A4C5593CA}"/>
              </a:ext>
            </a:extLst>
          </p:cNvPr>
          <p:cNvSpPr>
            <a:spLocks noGrp="1"/>
          </p:cNvSpPr>
          <p:nvPr>
            <p:ph type="ftr" sz="quarter" idx="11"/>
          </p:nvPr>
        </p:nvSpPr>
        <p:spPr/>
        <p:txBody>
          <a:bodyPr/>
          <a:lstStyle/>
          <a:p>
            <a:endParaRPr lang="en-LK"/>
          </a:p>
        </p:txBody>
      </p:sp>
      <p:sp>
        <p:nvSpPr>
          <p:cNvPr id="4" name="Slide Number Placeholder 3">
            <a:extLst>
              <a:ext uri="{FF2B5EF4-FFF2-40B4-BE49-F238E27FC236}">
                <a16:creationId xmlns:a16="http://schemas.microsoft.com/office/drawing/2014/main" id="{512FBEF3-046A-3EC2-BB37-4317895B90D1}"/>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3324390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26F8D-059E-A394-7D78-90D32885F1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8428B15F-C2F8-D5A0-F184-62E3098497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11BB3B16-9830-A922-8B29-31DCF4C1A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237317-2812-D126-4DD1-1270529A84A6}"/>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6" name="Footer Placeholder 5">
            <a:extLst>
              <a:ext uri="{FF2B5EF4-FFF2-40B4-BE49-F238E27FC236}">
                <a16:creationId xmlns:a16="http://schemas.microsoft.com/office/drawing/2014/main" id="{EE5886BA-5529-D39F-31ED-4DB327A66F11}"/>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99327344-68FE-A452-66DB-CADECF74057B}"/>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263195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6F646-7506-0FC7-491B-A6A9BCA4009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95529E7D-51C2-0B50-80A0-E878647B3D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B658D102-E92D-1C08-17BC-958B6CBF7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EE8476-ACF5-F4AC-CB0A-49DBC1F7E950}"/>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6" name="Footer Placeholder 5">
            <a:extLst>
              <a:ext uri="{FF2B5EF4-FFF2-40B4-BE49-F238E27FC236}">
                <a16:creationId xmlns:a16="http://schemas.microsoft.com/office/drawing/2014/main" id="{07161008-E772-3FDC-E67C-C090A9C0F102}"/>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D51CE871-B4F7-7033-A2CE-DE5A0B887A45}"/>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417924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60526-F0C0-9DFC-7302-D540914FCFA3}"/>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2EDF7422-DDAF-BC2C-6E72-1CBFE222382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7973CEE8-C346-EE7A-C7AA-C5DDBBE878EA}"/>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FD0FFA7C-11CE-F4EB-5786-399740BD0FD8}"/>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C47FFC48-9B95-3AA5-416D-0B74F96EB679}"/>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386077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7F7AA7-8457-49EB-3D11-588ED2C9017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3B5D55D5-DA00-85F2-662C-64A75C1B548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FB178EC1-79E7-E49E-6F2E-74CD573D0649}"/>
              </a:ext>
            </a:extLst>
          </p:cNvPr>
          <p:cNvSpPr>
            <a:spLocks noGrp="1"/>
          </p:cNvSpPr>
          <p:nvPr>
            <p:ph type="dt" sz="half" idx="10"/>
          </p:nvPr>
        </p:nvSpPr>
        <p:spPr/>
        <p:txBody>
          <a:body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4C4FCB41-7ACB-3A16-FC20-90F262BB0766}"/>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BE534C63-2A61-5CE5-7583-8E856CA68338}"/>
              </a:ext>
            </a:extLst>
          </p:cNvPr>
          <p:cNvSpPr>
            <a:spLocks noGrp="1"/>
          </p:cNvSpPr>
          <p:nvPr>
            <p:ph type="sldNum" sz="quarter" idx="12"/>
          </p:nvPr>
        </p:nvSpPr>
        <p:spPr/>
        <p:txBody>
          <a:bodyPr/>
          <a:lstStyle/>
          <a:p>
            <a:fld id="{9FFD4BCE-EBFE-2B4F-A5A1-FB9A80A47A5C}" type="slidenum">
              <a:rPr lang="en-LK" smtClean="0"/>
              <a:t>‹#›</a:t>
            </a:fld>
            <a:endParaRPr lang="en-LK"/>
          </a:p>
        </p:txBody>
      </p:sp>
    </p:spTree>
    <p:extLst>
      <p:ext uri="{BB962C8B-B14F-4D97-AF65-F5344CB8AC3E}">
        <p14:creationId xmlns:p14="http://schemas.microsoft.com/office/powerpoint/2010/main" val="149450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DC8C3F-E9F0-03DB-905E-A5E66B3AA5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70BE364A-5AC8-A2FE-D15A-F92FD4652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1A62B9A5-4854-2040-BE9A-135FBB0364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FEA9C0-ECF2-5346-9DF8-FA70789C5093}" type="datetimeFigureOut">
              <a:rPr lang="en-LK" smtClean="0"/>
              <a:t>2026-04-27</a:t>
            </a:fld>
            <a:endParaRPr lang="en-LK"/>
          </a:p>
        </p:txBody>
      </p:sp>
      <p:sp>
        <p:nvSpPr>
          <p:cNvPr id="5" name="Footer Placeholder 4">
            <a:extLst>
              <a:ext uri="{FF2B5EF4-FFF2-40B4-BE49-F238E27FC236}">
                <a16:creationId xmlns:a16="http://schemas.microsoft.com/office/drawing/2014/main" id="{5C78055E-9407-16C3-4E25-5145506478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K"/>
          </a:p>
        </p:txBody>
      </p:sp>
      <p:sp>
        <p:nvSpPr>
          <p:cNvPr id="6" name="Slide Number Placeholder 5">
            <a:extLst>
              <a:ext uri="{FF2B5EF4-FFF2-40B4-BE49-F238E27FC236}">
                <a16:creationId xmlns:a16="http://schemas.microsoft.com/office/drawing/2014/main" id="{178D1185-5883-B41A-A5F8-4E8548E3E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FD4BCE-EBFE-2B4F-A5A1-FB9A80A47A5C}" type="slidenum">
              <a:rPr lang="en-LK" smtClean="0"/>
              <a:t>‹#›</a:t>
            </a:fld>
            <a:endParaRPr lang="en-LK"/>
          </a:p>
        </p:txBody>
      </p:sp>
    </p:spTree>
    <p:extLst>
      <p:ext uri="{BB962C8B-B14F-4D97-AF65-F5344CB8AC3E}">
        <p14:creationId xmlns:p14="http://schemas.microsoft.com/office/powerpoint/2010/main" val="1457490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6" name="TextBox 5">
            <a:extLst>
              <a:ext uri="{FF2B5EF4-FFF2-40B4-BE49-F238E27FC236}">
                <a16:creationId xmlns:a16="http://schemas.microsoft.com/office/drawing/2014/main" id="{59F296D1-662D-3AEF-0949-AD1EA2166758}"/>
              </a:ext>
            </a:extLst>
          </p:cNvPr>
          <p:cNvSpPr txBox="1"/>
          <p:nvPr/>
        </p:nvSpPr>
        <p:spPr>
          <a:xfrm>
            <a:off x="2277122" y="1639818"/>
            <a:ext cx="7582843" cy="1323439"/>
          </a:xfrm>
          <a:prstGeom prst="rect">
            <a:avLst/>
          </a:prstGeom>
          <a:noFill/>
        </p:spPr>
        <p:txBody>
          <a:bodyPr wrap="square" rtlCol="0">
            <a:spAutoFit/>
          </a:bodyPr>
          <a:lstStyle/>
          <a:p>
            <a:pPr algn="ctr"/>
            <a:r>
              <a:rPr lang="en-GB" sz="4000" b="1" dirty="0">
                <a:effectLst/>
                <a:latin typeface="+mj-lt"/>
              </a:rPr>
              <a:t>Step by Step  Study with Full Equations</a:t>
            </a:r>
          </a:p>
        </p:txBody>
      </p:sp>
      <p:sp>
        <p:nvSpPr>
          <p:cNvPr id="7" name="TextBox 6">
            <a:extLst>
              <a:ext uri="{FF2B5EF4-FFF2-40B4-BE49-F238E27FC236}">
                <a16:creationId xmlns:a16="http://schemas.microsoft.com/office/drawing/2014/main" id="{203D02DC-602B-9DE9-FB66-D276B5884F31}"/>
              </a:ext>
            </a:extLst>
          </p:cNvPr>
          <p:cNvSpPr txBox="1"/>
          <p:nvPr/>
        </p:nvSpPr>
        <p:spPr>
          <a:xfrm>
            <a:off x="2699467" y="3964172"/>
            <a:ext cx="6738152" cy="2431435"/>
          </a:xfrm>
          <a:prstGeom prst="rect">
            <a:avLst/>
          </a:prstGeom>
          <a:noFill/>
        </p:spPr>
        <p:txBody>
          <a:bodyPr wrap="square" rtlCol="0">
            <a:spAutoFit/>
          </a:bodyPr>
          <a:lstStyle/>
          <a:p>
            <a:pPr algn="ctr"/>
            <a:r>
              <a:rPr lang="en-LK" sz="1600" dirty="0"/>
              <a:t>Minidu Wickramaarachchi</a:t>
            </a:r>
          </a:p>
          <a:p>
            <a:pPr marL="0" indent="0" algn="ctr" eaLnBrk="0" fontAlgn="base" hangingPunct="0">
              <a:spcBef>
                <a:spcPts val="1200"/>
              </a:spcBef>
              <a:spcAft>
                <a:spcPct val="0"/>
              </a:spcAft>
              <a:buNone/>
            </a:pPr>
            <a:r>
              <a:rPr lang="en-US" sz="1600" dirty="0">
                <a:ea typeface="微软雅黑" panose="020B0503020204020204" pitchFamily="34" charset="-122"/>
              </a:rPr>
              <a:t>Professor: </a:t>
            </a:r>
            <a:r>
              <a:rPr lang="ja-JP" altLang="en-US" sz="1600">
                <a:ea typeface="微软雅黑" panose="020B0503020204020204" pitchFamily="34" charset="-122"/>
              </a:rPr>
              <a:t>杨强 </a:t>
            </a:r>
            <a:r>
              <a:rPr lang="en-US" altLang="ja-JP" sz="1600" dirty="0">
                <a:ea typeface="微软雅黑" panose="020B0503020204020204" pitchFamily="34" charset="-122"/>
              </a:rPr>
              <a:t>(</a:t>
            </a:r>
            <a:r>
              <a:rPr lang="en-US" sz="1600" dirty="0" err="1">
                <a:ea typeface="微软雅黑" panose="020B0503020204020204" pitchFamily="34" charset="-122"/>
              </a:rPr>
              <a:t>Qiang</a:t>
            </a:r>
            <a:r>
              <a:rPr lang="en-US" sz="1600" dirty="0">
                <a:ea typeface="微软雅黑" panose="020B0503020204020204" pitchFamily="34" charset="-122"/>
              </a:rPr>
              <a:t> Yang)</a:t>
            </a:r>
          </a:p>
          <a:p>
            <a:pPr marL="0" indent="0" algn="ctr" eaLnBrk="0" fontAlgn="base" hangingPunct="0">
              <a:spcBef>
                <a:spcPts val="1200"/>
              </a:spcBef>
              <a:spcAft>
                <a:spcPct val="0"/>
              </a:spcAft>
              <a:buNone/>
            </a:pPr>
            <a:r>
              <a:rPr lang="en-US" sz="1600" dirty="0">
                <a:ea typeface="微软雅黑" panose="020B0503020204020204" pitchFamily="34" charset="-122"/>
              </a:rPr>
              <a:t> The School of Artificial Intelligence, Nanjing University of Information Science and Technology. Nanjing 210044, China. </a:t>
            </a:r>
          </a:p>
          <a:p>
            <a:pPr marL="0" indent="0" algn="ctr" eaLnBrk="0" fontAlgn="base" hangingPunct="0">
              <a:spcBef>
                <a:spcPts val="1200"/>
              </a:spcBef>
              <a:spcAft>
                <a:spcPct val="0"/>
              </a:spcAft>
              <a:buNone/>
            </a:pPr>
            <a:r>
              <a:rPr lang="en" altLang="zh-CN" sz="1600" dirty="0">
                <a:solidFill>
                  <a:schemeClr val="tx1">
                    <a:lumMod val="90000"/>
                    <a:lumOff val="10000"/>
                  </a:schemeClr>
                </a:solidFill>
                <a:ea typeface="微软雅黑" panose="020B0503020204020204" pitchFamily="34" charset="-122"/>
                <a:cs typeface="Times New Roman" panose="02020603050405020304" pitchFamily="18" charset="0"/>
              </a:rPr>
              <a:t>Email</a:t>
            </a:r>
            <a:r>
              <a:rPr lang="zh-CN" altLang="en-US" sz="1600" dirty="0">
                <a:solidFill>
                  <a:schemeClr val="tx1">
                    <a:lumMod val="90000"/>
                    <a:lumOff val="10000"/>
                  </a:schemeClr>
                </a:solidFill>
                <a:ea typeface="微软雅黑" panose="020B0503020204020204" pitchFamily="34" charset="-122"/>
                <a:cs typeface="Times New Roman" panose="02020603050405020304" pitchFamily="18" charset="0"/>
              </a:rPr>
              <a:t>：</a:t>
            </a:r>
            <a:r>
              <a:rPr lang="en-US" altLang="zh-CN" sz="1600" dirty="0">
                <a:solidFill>
                  <a:schemeClr val="tx1">
                    <a:lumMod val="90000"/>
                    <a:lumOff val="10000"/>
                  </a:schemeClr>
                </a:solidFill>
                <a:ea typeface="微软雅黑" panose="020B0503020204020204" pitchFamily="34" charset="-122"/>
                <a:cs typeface="Times New Roman" panose="02020603050405020304" pitchFamily="18" charset="0"/>
              </a:rPr>
              <a:t>miniduwickramaarchchi97@gmail.com </a:t>
            </a:r>
          </a:p>
          <a:p>
            <a:pPr marL="0" indent="0" algn="ctr" eaLnBrk="0" fontAlgn="base" hangingPunct="0">
              <a:spcBef>
                <a:spcPts val="1200"/>
              </a:spcBef>
              <a:spcAft>
                <a:spcPct val="0"/>
              </a:spcAft>
              <a:buNone/>
            </a:pPr>
            <a:r>
              <a:rPr lang="en-US" altLang="zh-CN" sz="1600" dirty="0">
                <a:solidFill>
                  <a:schemeClr val="tx1">
                    <a:lumMod val="90000"/>
                    <a:lumOff val="10000"/>
                  </a:schemeClr>
                </a:solidFill>
                <a:ea typeface="微软雅黑" panose="020B0503020204020204" pitchFamily="34" charset="-122"/>
                <a:cs typeface="Times New Roman" panose="02020603050405020304" pitchFamily="18" charset="0"/>
              </a:rPr>
              <a:t>2026-04-08</a:t>
            </a:r>
            <a:endParaRPr lang="zh-CN" altLang="en-US" sz="1600" dirty="0">
              <a:solidFill>
                <a:schemeClr val="tx1">
                  <a:lumMod val="90000"/>
                  <a:lumOff val="10000"/>
                </a:schemeClr>
              </a:solidFill>
              <a:ea typeface="微软雅黑" panose="020B0503020204020204" pitchFamily="34" charset="-122"/>
              <a:cs typeface="Times New Roman" panose="02020603050405020304" pitchFamily="18" charset="0"/>
            </a:endParaRPr>
          </a:p>
          <a:p>
            <a:pPr algn="ctr"/>
            <a:endParaRPr lang="en-LK" sz="1600" dirty="0"/>
          </a:p>
        </p:txBody>
      </p:sp>
    </p:spTree>
    <p:extLst>
      <p:ext uri="{BB962C8B-B14F-4D97-AF65-F5344CB8AC3E}">
        <p14:creationId xmlns:p14="http://schemas.microsoft.com/office/powerpoint/2010/main" val="2044213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2832955" y="426704"/>
            <a:ext cx="6526089" cy="584775"/>
          </a:xfrm>
          <a:prstGeom prst="rect">
            <a:avLst/>
          </a:prstGeom>
          <a:noFill/>
        </p:spPr>
        <p:txBody>
          <a:bodyPr wrap="square" rtlCol="0">
            <a:spAutoFit/>
          </a:bodyPr>
          <a:lstStyle/>
          <a:p>
            <a:pPr algn="ctr"/>
            <a:r>
              <a:rPr lang="en-LK" sz="3200" dirty="0"/>
              <a:t>Core Idea and Notations</a:t>
            </a:r>
          </a:p>
        </p:txBody>
      </p:sp>
      <p:sp>
        <p:nvSpPr>
          <p:cNvPr id="3" name="TextBox 2">
            <a:extLst>
              <a:ext uri="{FF2B5EF4-FFF2-40B4-BE49-F238E27FC236}">
                <a16:creationId xmlns:a16="http://schemas.microsoft.com/office/drawing/2014/main" id="{00A2D2F6-95E3-AC12-99C6-37EF8065CD22}"/>
              </a:ext>
            </a:extLst>
          </p:cNvPr>
          <p:cNvSpPr txBox="1"/>
          <p:nvPr/>
        </p:nvSpPr>
        <p:spPr>
          <a:xfrm>
            <a:off x="1201676" y="1137316"/>
            <a:ext cx="9788645" cy="584775"/>
          </a:xfrm>
          <a:prstGeom prst="rect">
            <a:avLst/>
          </a:prstGeom>
          <a:noFill/>
        </p:spPr>
        <p:txBody>
          <a:bodyPr wrap="square" rtlCol="0">
            <a:spAutoFit/>
          </a:bodyPr>
          <a:lstStyle/>
          <a:p>
            <a:r>
              <a:rPr lang="en-GB" sz="1600" dirty="0">
                <a:effectLst/>
              </a:rPr>
              <a:t>PSO is a population based metaheuristic that simulates how swarm (bird or fish) collectively search for optimal solutions. Each solution candidate is a “particle” that moves through search space.</a:t>
            </a:r>
          </a:p>
        </p:txBody>
      </p:sp>
      <p:sp>
        <p:nvSpPr>
          <p:cNvPr id="6" name="Shape 3">
            <a:extLst>
              <a:ext uri="{FF2B5EF4-FFF2-40B4-BE49-F238E27FC236}">
                <a16:creationId xmlns:a16="http://schemas.microsoft.com/office/drawing/2014/main" id="{1500525B-B2AD-EB0B-9BA2-E6975BE93CE6}"/>
              </a:ext>
            </a:extLst>
          </p:cNvPr>
          <p:cNvSpPr/>
          <p:nvPr/>
        </p:nvSpPr>
        <p:spPr>
          <a:xfrm>
            <a:off x="1917192" y="2323852"/>
            <a:ext cx="1554480" cy="2331720"/>
          </a:xfrm>
          <a:prstGeom prst="rect">
            <a:avLst/>
          </a:prstGeom>
          <a:solidFill>
            <a:srgbClr val="FFFFFF"/>
          </a:solidFill>
          <a:ln w="12700">
            <a:solidFill>
              <a:srgbClr val="3A86FF"/>
            </a:solidFill>
            <a:prstDash val="solid"/>
          </a:ln>
          <a:effectLst>
            <a:outerShdw blurRad="50800" dist="25400" dir="8100000" algn="bl" rotWithShape="0">
              <a:srgbClr val="000000">
                <a:alpha val="10000"/>
              </a:srgbClr>
            </a:outerShdw>
          </a:effectLst>
        </p:spPr>
      </p:sp>
      <p:sp>
        <p:nvSpPr>
          <p:cNvPr id="7" name="Shape 4">
            <a:extLst>
              <a:ext uri="{FF2B5EF4-FFF2-40B4-BE49-F238E27FC236}">
                <a16:creationId xmlns:a16="http://schemas.microsoft.com/office/drawing/2014/main" id="{95B71C6D-F686-2D5D-25DF-90460AC28BFE}"/>
              </a:ext>
            </a:extLst>
          </p:cNvPr>
          <p:cNvSpPr/>
          <p:nvPr/>
        </p:nvSpPr>
        <p:spPr>
          <a:xfrm>
            <a:off x="1917192" y="2323852"/>
            <a:ext cx="1554480" cy="658368"/>
          </a:xfrm>
          <a:prstGeom prst="rect">
            <a:avLst/>
          </a:prstGeom>
          <a:solidFill>
            <a:srgbClr val="3A86FF"/>
          </a:solidFill>
          <a:ln w="12700">
            <a:solidFill>
              <a:srgbClr val="3A86FF"/>
            </a:solidFill>
            <a:prstDash val="solid"/>
          </a:ln>
        </p:spPr>
      </p:sp>
      <p:sp>
        <p:nvSpPr>
          <p:cNvPr id="8" name="Text 5">
            <a:extLst>
              <a:ext uri="{FF2B5EF4-FFF2-40B4-BE49-F238E27FC236}">
                <a16:creationId xmlns:a16="http://schemas.microsoft.com/office/drawing/2014/main" id="{0836A3EC-099A-EC38-04CE-B8368282950C}"/>
              </a:ext>
            </a:extLst>
          </p:cNvPr>
          <p:cNvSpPr/>
          <p:nvPr/>
        </p:nvSpPr>
        <p:spPr>
          <a:xfrm>
            <a:off x="1917192" y="2323852"/>
            <a:ext cx="15544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NP</a:t>
            </a:r>
            <a:endParaRPr lang="en-US" sz="2000" dirty="0"/>
          </a:p>
        </p:txBody>
      </p:sp>
      <p:sp>
        <p:nvSpPr>
          <p:cNvPr id="9" name="Text 6">
            <a:extLst>
              <a:ext uri="{FF2B5EF4-FFF2-40B4-BE49-F238E27FC236}">
                <a16:creationId xmlns:a16="http://schemas.microsoft.com/office/drawing/2014/main" id="{A55B7068-3812-B21E-0DFD-4D0C8F85FE56}"/>
              </a:ext>
            </a:extLst>
          </p:cNvPr>
          <p:cNvSpPr/>
          <p:nvPr/>
        </p:nvSpPr>
        <p:spPr>
          <a:xfrm>
            <a:off x="2008632" y="3055372"/>
            <a:ext cx="1371600" cy="1508760"/>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Total number of particles in the swarm</a:t>
            </a:r>
            <a:endParaRPr lang="en-US" sz="1100" dirty="0"/>
          </a:p>
        </p:txBody>
      </p:sp>
      <p:sp>
        <p:nvSpPr>
          <p:cNvPr id="10" name="Shape 7">
            <a:extLst>
              <a:ext uri="{FF2B5EF4-FFF2-40B4-BE49-F238E27FC236}">
                <a16:creationId xmlns:a16="http://schemas.microsoft.com/office/drawing/2014/main" id="{60346776-28BC-A02A-8D24-F5D19DC3C96A}"/>
              </a:ext>
            </a:extLst>
          </p:cNvPr>
          <p:cNvSpPr/>
          <p:nvPr/>
        </p:nvSpPr>
        <p:spPr>
          <a:xfrm>
            <a:off x="3617976" y="2323852"/>
            <a:ext cx="1554480" cy="2331720"/>
          </a:xfrm>
          <a:prstGeom prst="rect">
            <a:avLst/>
          </a:prstGeom>
          <a:solidFill>
            <a:srgbClr val="FFFFFF"/>
          </a:solidFill>
          <a:ln w="12700">
            <a:solidFill>
              <a:srgbClr val="06D6A0"/>
            </a:solidFill>
            <a:prstDash val="solid"/>
          </a:ln>
          <a:effectLst>
            <a:outerShdw blurRad="50800" dist="25400" dir="8100000" algn="bl" rotWithShape="0">
              <a:srgbClr val="000000">
                <a:alpha val="10000"/>
              </a:srgbClr>
            </a:outerShdw>
          </a:effectLst>
        </p:spPr>
      </p:sp>
      <p:sp>
        <p:nvSpPr>
          <p:cNvPr id="11" name="Shape 8">
            <a:extLst>
              <a:ext uri="{FF2B5EF4-FFF2-40B4-BE49-F238E27FC236}">
                <a16:creationId xmlns:a16="http://schemas.microsoft.com/office/drawing/2014/main" id="{7513EEE2-CF1F-DE12-CDB1-C849FCD3A245}"/>
              </a:ext>
            </a:extLst>
          </p:cNvPr>
          <p:cNvSpPr/>
          <p:nvPr/>
        </p:nvSpPr>
        <p:spPr>
          <a:xfrm>
            <a:off x="3617976" y="2323852"/>
            <a:ext cx="1554480" cy="658368"/>
          </a:xfrm>
          <a:prstGeom prst="rect">
            <a:avLst/>
          </a:prstGeom>
          <a:solidFill>
            <a:srgbClr val="06D6A0"/>
          </a:solidFill>
          <a:ln w="12700">
            <a:solidFill>
              <a:srgbClr val="06D6A0"/>
            </a:solidFill>
            <a:prstDash val="solid"/>
          </a:ln>
        </p:spPr>
      </p:sp>
      <p:sp>
        <p:nvSpPr>
          <p:cNvPr id="12" name="Text 9">
            <a:extLst>
              <a:ext uri="{FF2B5EF4-FFF2-40B4-BE49-F238E27FC236}">
                <a16:creationId xmlns:a16="http://schemas.microsoft.com/office/drawing/2014/main" id="{4D4359FF-ACE0-8F2F-06DB-CC3C002151C7}"/>
              </a:ext>
            </a:extLst>
          </p:cNvPr>
          <p:cNvSpPr/>
          <p:nvPr/>
        </p:nvSpPr>
        <p:spPr>
          <a:xfrm>
            <a:off x="3617976" y="2323852"/>
            <a:ext cx="15544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xᵢ</a:t>
            </a:r>
            <a:endParaRPr lang="en-US" sz="2000" dirty="0"/>
          </a:p>
        </p:txBody>
      </p:sp>
      <p:sp>
        <p:nvSpPr>
          <p:cNvPr id="13" name="Text 10">
            <a:extLst>
              <a:ext uri="{FF2B5EF4-FFF2-40B4-BE49-F238E27FC236}">
                <a16:creationId xmlns:a16="http://schemas.microsoft.com/office/drawing/2014/main" id="{1C13329A-2874-C530-E7B7-728C2FA23458}"/>
              </a:ext>
            </a:extLst>
          </p:cNvPr>
          <p:cNvSpPr/>
          <p:nvPr/>
        </p:nvSpPr>
        <p:spPr>
          <a:xfrm>
            <a:off x="3709416" y="3055372"/>
            <a:ext cx="1371600" cy="1508760"/>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Current position (solution) of particle i</a:t>
            </a:r>
            <a:endParaRPr lang="en-US" sz="1100" dirty="0"/>
          </a:p>
        </p:txBody>
      </p:sp>
      <p:sp>
        <p:nvSpPr>
          <p:cNvPr id="14" name="Shape 11">
            <a:extLst>
              <a:ext uri="{FF2B5EF4-FFF2-40B4-BE49-F238E27FC236}">
                <a16:creationId xmlns:a16="http://schemas.microsoft.com/office/drawing/2014/main" id="{630586B2-9C0A-CFC9-F6C8-2923CD768151}"/>
              </a:ext>
            </a:extLst>
          </p:cNvPr>
          <p:cNvSpPr/>
          <p:nvPr/>
        </p:nvSpPr>
        <p:spPr>
          <a:xfrm>
            <a:off x="5318760" y="2323852"/>
            <a:ext cx="1554480" cy="2331720"/>
          </a:xfrm>
          <a:prstGeom prst="rect">
            <a:avLst/>
          </a:prstGeom>
          <a:solidFill>
            <a:srgbClr val="FFFFFF"/>
          </a:solidFill>
          <a:ln w="12700">
            <a:solidFill>
              <a:srgbClr val="00B4D8"/>
            </a:solidFill>
            <a:prstDash val="solid"/>
          </a:ln>
          <a:effectLst>
            <a:outerShdw blurRad="50800" dist="25400" dir="8100000" algn="bl" rotWithShape="0">
              <a:srgbClr val="000000">
                <a:alpha val="10000"/>
              </a:srgbClr>
            </a:outerShdw>
          </a:effectLst>
        </p:spPr>
      </p:sp>
      <p:sp>
        <p:nvSpPr>
          <p:cNvPr id="15" name="Shape 12">
            <a:extLst>
              <a:ext uri="{FF2B5EF4-FFF2-40B4-BE49-F238E27FC236}">
                <a16:creationId xmlns:a16="http://schemas.microsoft.com/office/drawing/2014/main" id="{01E6CDE9-D868-AA68-8E75-E14834ABB518}"/>
              </a:ext>
            </a:extLst>
          </p:cNvPr>
          <p:cNvSpPr/>
          <p:nvPr/>
        </p:nvSpPr>
        <p:spPr>
          <a:xfrm>
            <a:off x="5318760" y="2323852"/>
            <a:ext cx="1554480" cy="658368"/>
          </a:xfrm>
          <a:prstGeom prst="rect">
            <a:avLst/>
          </a:prstGeom>
          <a:solidFill>
            <a:srgbClr val="00B4D8"/>
          </a:solidFill>
          <a:ln w="12700">
            <a:solidFill>
              <a:srgbClr val="00B4D8"/>
            </a:solidFill>
            <a:prstDash val="solid"/>
          </a:ln>
        </p:spPr>
      </p:sp>
      <p:sp>
        <p:nvSpPr>
          <p:cNvPr id="16" name="Text 13">
            <a:extLst>
              <a:ext uri="{FF2B5EF4-FFF2-40B4-BE49-F238E27FC236}">
                <a16:creationId xmlns:a16="http://schemas.microsoft.com/office/drawing/2014/main" id="{7D79CD2A-A2FC-89AE-B374-CA479C01FC95}"/>
              </a:ext>
            </a:extLst>
          </p:cNvPr>
          <p:cNvSpPr/>
          <p:nvPr/>
        </p:nvSpPr>
        <p:spPr>
          <a:xfrm>
            <a:off x="5318760" y="2323852"/>
            <a:ext cx="15544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vᵢ</a:t>
            </a:r>
            <a:endParaRPr lang="en-US" sz="2000" dirty="0"/>
          </a:p>
        </p:txBody>
      </p:sp>
      <p:sp>
        <p:nvSpPr>
          <p:cNvPr id="17" name="Text 14">
            <a:extLst>
              <a:ext uri="{FF2B5EF4-FFF2-40B4-BE49-F238E27FC236}">
                <a16:creationId xmlns:a16="http://schemas.microsoft.com/office/drawing/2014/main" id="{F3853273-F1E5-E808-EDDF-E0606354B3B1}"/>
              </a:ext>
            </a:extLst>
          </p:cNvPr>
          <p:cNvSpPr/>
          <p:nvPr/>
        </p:nvSpPr>
        <p:spPr>
          <a:xfrm>
            <a:off x="5410200" y="3055372"/>
            <a:ext cx="1371600" cy="1508760"/>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Current velocity (direction &amp; speed) of particle i</a:t>
            </a:r>
            <a:endParaRPr lang="en-US" sz="1100" dirty="0"/>
          </a:p>
        </p:txBody>
      </p:sp>
      <p:sp>
        <p:nvSpPr>
          <p:cNvPr id="18" name="Shape 15">
            <a:extLst>
              <a:ext uri="{FF2B5EF4-FFF2-40B4-BE49-F238E27FC236}">
                <a16:creationId xmlns:a16="http://schemas.microsoft.com/office/drawing/2014/main" id="{BEAE0196-6E03-8609-B5F3-F6899875B953}"/>
              </a:ext>
            </a:extLst>
          </p:cNvPr>
          <p:cNvSpPr/>
          <p:nvPr/>
        </p:nvSpPr>
        <p:spPr>
          <a:xfrm>
            <a:off x="7019544" y="2323852"/>
            <a:ext cx="1554480" cy="2331720"/>
          </a:xfrm>
          <a:prstGeom prst="rect">
            <a:avLst/>
          </a:prstGeom>
          <a:solidFill>
            <a:srgbClr val="FFFFFF"/>
          </a:solidFill>
          <a:ln w="12700">
            <a:solidFill>
              <a:srgbClr val="F4A261"/>
            </a:solidFill>
            <a:prstDash val="solid"/>
          </a:ln>
          <a:effectLst>
            <a:outerShdw blurRad="50800" dist="25400" dir="8100000" algn="bl" rotWithShape="0">
              <a:srgbClr val="000000">
                <a:alpha val="10000"/>
              </a:srgbClr>
            </a:outerShdw>
          </a:effectLst>
        </p:spPr>
      </p:sp>
      <p:sp>
        <p:nvSpPr>
          <p:cNvPr id="19" name="Shape 16">
            <a:extLst>
              <a:ext uri="{FF2B5EF4-FFF2-40B4-BE49-F238E27FC236}">
                <a16:creationId xmlns:a16="http://schemas.microsoft.com/office/drawing/2014/main" id="{6325FFA3-E31E-0B30-F2A2-08C8D0B8BA9F}"/>
              </a:ext>
            </a:extLst>
          </p:cNvPr>
          <p:cNvSpPr/>
          <p:nvPr/>
        </p:nvSpPr>
        <p:spPr>
          <a:xfrm>
            <a:off x="7019544" y="2323852"/>
            <a:ext cx="1554480" cy="658368"/>
          </a:xfrm>
          <a:prstGeom prst="rect">
            <a:avLst/>
          </a:prstGeom>
          <a:solidFill>
            <a:srgbClr val="F4A261"/>
          </a:solidFill>
          <a:ln w="12700">
            <a:solidFill>
              <a:srgbClr val="F4A261"/>
            </a:solidFill>
            <a:prstDash val="solid"/>
          </a:ln>
        </p:spPr>
      </p:sp>
      <p:sp>
        <p:nvSpPr>
          <p:cNvPr id="20" name="Text 17">
            <a:extLst>
              <a:ext uri="{FF2B5EF4-FFF2-40B4-BE49-F238E27FC236}">
                <a16:creationId xmlns:a16="http://schemas.microsoft.com/office/drawing/2014/main" id="{CBB41846-3539-5468-1627-E51D85F8F828}"/>
              </a:ext>
            </a:extLst>
          </p:cNvPr>
          <p:cNvSpPr/>
          <p:nvPr/>
        </p:nvSpPr>
        <p:spPr>
          <a:xfrm>
            <a:off x="7019544" y="2323852"/>
            <a:ext cx="15544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pbest_i</a:t>
            </a:r>
            <a:endParaRPr lang="en-US" sz="2000" dirty="0"/>
          </a:p>
        </p:txBody>
      </p:sp>
      <p:sp>
        <p:nvSpPr>
          <p:cNvPr id="21" name="Text 18">
            <a:extLst>
              <a:ext uri="{FF2B5EF4-FFF2-40B4-BE49-F238E27FC236}">
                <a16:creationId xmlns:a16="http://schemas.microsoft.com/office/drawing/2014/main" id="{65913E6D-54D0-AA83-3638-B8C63111C5B7}"/>
              </a:ext>
            </a:extLst>
          </p:cNvPr>
          <p:cNvSpPr/>
          <p:nvPr/>
        </p:nvSpPr>
        <p:spPr>
          <a:xfrm>
            <a:off x="7110984" y="3055372"/>
            <a:ext cx="1371600" cy="1508760"/>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Personal best position found so far by particle i</a:t>
            </a:r>
            <a:endParaRPr lang="en-US" sz="1100" dirty="0"/>
          </a:p>
        </p:txBody>
      </p:sp>
      <p:sp>
        <p:nvSpPr>
          <p:cNvPr id="22" name="Shape 19">
            <a:extLst>
              <a:ext uri="{FF2B5EF4-FFF2-40B4-BE49-F238E27FC236}">
                <a16:creationId xmlns:a16="http://schemas.microsoft.com/office/drawing/2014/main" id="{2565A0D0-8B12-9961-56F8-E69298CC651E}"/>
              </a:ext>
            </a:extLst>
          </p:cNvPr>
          <p:cNvSpPr/>
          <p:nvPr/>
        </p:nvSpPr>
        <p:spPr>
          <a:xfrm>
            <a:off x="8720328" y="2323852"/>
            <a:ext cx="1554480" cy="2331720"/>
          </a:xfrm>
          <a:prstGeom prst="rect">
            <a:avLst/>
          </a:prstGeom>
          <a:solidFill>
            <a:srgbClr val="FFFFFF"/>
          </a:solidFill>
          <a:ln w="12700">
            <a:solidFill>
              <a:srgbClr val="F72585"/>
            </a:solidFill>
            <a:prstDash val="solid"/>
          </a:ln>
          <a:effectLst>
            <a:outerShdw blurRad="50800" dist="25400" dir="8100000" algn="bl" rotWithShape="0">
              <a:srgbClr val="000000">
                <a:alpha val="10000"/>
              </a:srgbClr>
            </a:outerShdw>
          </a:effectLst>
        </p:spPr>
      </p:sp>
      <p:sp>
        <p:nvSpPr>
          <p:cNvPr id="23" name="Shape 20">
            <a:extLst>
              <a:ext uri="{FF2B5EF4-FFF2-40B4-BE49-F238E27FC236}">
                <a16:creationId xmlns:a16="http://schemas.microsoft.com/office/drawing/2014/main" id="{10F22424-6576-5892-2B2A-C31DB1C440AE}"/>
              </a:ext>
            </a:extLst>
          </p:cNvPr>
          <p:cNvSpPr/>
          <p:nvPr/>
        </p:nvSpPr>
        <p:spPr>
          <a:xfrm>
            <a:off x="8720328" y="2323852"/>
            <a:ext cx="1554480" cy="658368"/>
          </a:xfrm>
          <a:prstGeom prst="rect">
            <a:avLst/>
          </a:prstGeom>
          <a:solidFill>
            <a:srgbClr val="F72585"/>
          </a:solidFill>
          <a:ln w="12700">
            <a:solidFill>
              <a:srgbClr val="F72585"/>
            </a:solidFill>
            <a:prstDash val="solid"/>
          </a:ln>
        </p:spPr>
      </p:sp>
      <p:sp>
        <p:nvSpPr>
          <p:cNvPr id="24" name="Text 21">
            <a:extLst>
              <a:ext uri="{FF2B5EF4-FFF2-40B4-BE49-F238E27FC236}">
                <a16:creationId xmlns:a16="http://schemas.microsoft.com/office/drawing/2014/main" id="{E46D995E-FCF0-443E-9803-F8FB49BDAF15}"/>
              </a:ext>
            </a:extLst>
          </p:cNvPr>
          <p:cNvSpPr/>
          <p:nvPr/>
        </p:nvSpPr>
        <p:spPr>
          <a:xfrm>
            <a:off x="8720328" y="2323852"/>
            <a:ext cx="1554480"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onsolas" pitchFamily="34" charset="0"/>
                <a:ea typeface="Consolas" pitchFamily="34" charset="-122"/>
                <a:cs typeface="Consolas" pitchFamily="34" charset="-120"/>
              </a:rPr>
              <a:t>gbest</a:t>
            </a:r>
            <a:endParaRPr lang="en-US" sz="2000" dirty="0"/>
          </a:p>
        </p:txBody>
      </p:sp>
      <p:sp>
        <p:nvSpPr>
          <p:cNvPr id="25" name="Text 22">
            <a:extLst>
              <a:ext uri="{FF2B5EF4-FFF2-40B4-BE49-F238E27FC236}">
                <a16:creationId xmlns:a16="http://schemas.microsoft.com/office/drawing/2014/main" id="{61E71F79-CD16-3A49-8480-09B7F13984F5}"/>
              </a:ext>
            </a:extLst>
          </p:cNvPr>
          <p:cNvSpPr/>
          <p:nvPr/>
        </p:nvSpPr>
        <p:spPr>
          <a:xfrm>
            <a:off x="8811768" y="3055372"/>
            <a:ext cx="1371600" cy="1508760"/>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Global best position found by any particle so far</a:t>
            </a:r>
            <a:endParaRPr lang="en-US" sz="1100" dirty="0"/>
          </a:p>
        </p:txBody>
      </p:sp>
      <p:sp>
        <p:nvSpPr>
          <p:cNvPr id="26" name="Text 23">
            <a:extLst>
              <a:ext uri="{FF2B5EF4-FFF2-40B4-BE49-F238E27FC236}">
                <a16:creationId xmlns:a16="http://schemas.microsoft.com/office/drawing/2014/main" id="{4414839F-1137-26D8-ED0B-0EF38C678CF1}"/>
              </a:ext>
            </a:extLst>
          </p:cNvPr>
          <p:cNvSpPr/>
          <p:nvPr/>
        </p:nvSpPr>
        <p:spPr>
          <a:xfrm>
            <a:off x="1889758" y="5005873"/>
            <a:ext cx="8412480" cy="5029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iteration: particles move, update their velocity based on personal &amp; swarm memory, and converge toward optimal regions.</a:t>
            </a:r>
            <a:endParaRPr lang="en-US" sz="1200" dirty="0"/>
          </a:p>
        </p:txBody>
      </p:sp>
    </p:spTree>
    <p:extLst>
      <p:ext uri="{BB962C8B-B14F-4D97-AF65-F5344CB8AC3E}">
        <p14:creationId xmlns:p14="http://schemas.microsoft.com/office/powerpoint/2010/main" val="1668877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3002276" y="293311"/>
            <a:ext cx="6187448" cy="584775"/>
          </a:xfrm>
          <a:prstGeom prst="rect">
            <a:avLst/>
          </a:prstGeom>
          <a:noFill/>
        </p:spPr>
        <p:txBody>
          <a:bodyPr wrap="square" rtlCol="0">
            <a:spAutoFit/>
          </a:bodyPr>
          <a:lstStyle/>
          <a:p>
            <a:pPr algn="ctr"/>
            <a:r>
              <a:rPr lang="en-LK" sz="3200" b="1" dirty="0">
                <a:latin typeface="+mj-lt"/>
              </a:rPr>
              <a:t>Standard Velocity Update Equation</a:t>
            </a:r>
          </a:p>
        </p:txBody>
      </p:sp>
      <p:sp>
        <p:nvSpPr>
          <p:cNvPr id="6" name="Shape 2">
            <a:extLst>
              <a:ext uri="{FF2B5EF4-FFF2-40B4-BE49-F238E27FC236}">
                <a16:creationId xmlns:a16="http://schemas.microsoft.com/office/drawing/2014/main" id="{CFB5DD67-A815-0C53-E3F0-E54DF95AD525}"/>
              </a:ext>
            </a:extLst>
          </p:cNvPr>
          <p:cNvSpPr/>
          <p:nvPr/>
        </p:nvSpPr>
        <p:spPr>
          <a:xfrm>
            <a:off x="1844040" y="1499733"/>
            <a:ext cx="8503920" cy="804672"/>
          </a:xfrm>
          <a:prstGeom prst="rect">
            <a:avLst/>
          </a:prstGeom>
          <a:solidFill>
            <a:srgbClr val="0D1B2A"/>
          </a:solidFill>
          <a:ln w="12700">
            <a:solidFill>
              <a:srgbClr val="00B4D8"/>
            </a:solidFill>
            <a:prstDash val="solid"/>
          </a:ln>
        </p:spPr>
      </p:sp>
      <p:sp>
        <p:nvSpPr>
          <p:cNvPr id="7" name="Text 3">
            <a:extLst>
              <a:ext uri="{FF2B5EF4-FFF2-40B4-BE49-F238E27FC236}">
                <a16:creationId xmlns:a16="http://schemas.microsoft.com/office/drawing/2014/main" id="{F37190DE-3982-7981-ABAA-856298C50E5C}"/>
              </a:ext>
            </a:extLst>
          </p:cNvPr>
          <p:cNvSpPr/>
          <p:nvPr/>
        </p:nvSpPr>
        <p:spPr>
          <a:xfrm>
            <a:off x="1844040" y="1499733"/>
            <a:ext cx="8503920" cy="804672"/>
          </a:xfrm>
          <a:prstGeom prst="rect">
            <a:avLst/>
          </a:prstGeom>
          <a:noFill/>
          <a:ln/>
        </p:spPr>
        <p:txBody>
          <a:bodyPr wrap="square" lIns="0" tIns="0" rIns="0" bIns="0" rtlCol="0" anchor="ctr"/>
          <a:lstStyle/>
          <a:p>
            <a:pPr marL="0" indent="0" algn="ctr">
              <a:buNone/>
            </a:pPr>
            <a:r>
              <a:rPr lang="en-US" sz="1700" b="1" dirty="0">
                <a:solidFill>
                  <a:srgbClr val="00B4D8"/>
                </a:solidFill>
                <a:latin typeface="Consolas" pitchFamily="34" charset="0"/>
                <a:ea typeface="Consolas" pitchFamily="34" charset="-122"/>
                <a:cs typeface="Consolas" pitchFamily="34" charset="-120"/>
              </a:rPr>
              <a:t>vᵢ  =  </a:t>
            </a:r>
            <a:r>
              <a:rPr lang="en-US" sz="1700" b="1" dirty="0" err="1">
                <a:solidFill>
                  <a:srgbClr val="00B4D8"/>
                </a:solidFill>
                <a:latin typeface="Consolas" pitchFamily="34" charset="0"/>
                <a:ea typeface="Consolas" pitchFamily="34" charset="-122"/>
                <a:cs typeface="Consolas" pitchFamily="34" charset="-120"/>
              </a:rPr>
              <a:t>ω.v</a:t>
            </a:r>
            <a:r>
              <a:rPr lang="en-US" sz="1700" b="1" dirty="0">
                <a:solidFill>
                  <a:srgbClr val="00B4D8"/>
                </a:solidFill>
                <a:latin typeface="Consolas" pitchFamily="34" charset="0"/>
                <a:ea typeface="Consolas" pitchFamily="34" charset="-122"/>
                <a:cs typeface="Consolas" pitchFamily="34" charset="-120"/>
              </a:rPr>
              <a:t>ᵢ   +   </a:t>
            </a:r>
            <a:r>
              <a:rPr lang="en-US" sz="1700" b="1" dirty="0" err="1">
                <a:solidFill>
                  <a:srgbClr val="00B4D8"/>
                </a:solidFill>
                <a:latin typeface="Consolas" pitchFamily="34" charset="0"/>
                <a:ea typeface="Consolas" pitchFamily="34" charset="-122"/>
                <a:cs typeface="Consolas" pitchFamily="34" charset="-120"/>
              </a:rPr>
              <a:t>c₁.r</a:t>
            </a:r>
            <a:r>
              <a:rPr lang="en-US" sz="1700" b="1" dirty="0">
                <a:solidFill>
                  <a:srgbClr val="00B4D8"/>
                </a:solidFill>
                <a:latin typeface="Consolas" pitchFamily="34" charset="0"/>
                <a:ea typeface="Consolas" pitchFamily="34" charset="-122"/>
                <a:cs typeface="Consolas" pitchFamily="34" charset="-120"/>
              </a:rPr>
              <a:t>₁(pbest_i  −  xᵢ)   +   </a:t>
            </a:r>
            <a:r>
              <a:rPr lang="en-US" sz="1700" b="1" dirty="0" err="1">
                <a:solidFill>
                  <a:srgbClr val="00B4D8"/>
                </a:solidFill>
                <a:latin typeface="Consolas" pitchFamily="34" charset="0"/>
                <a:ea typeface="Consolas" pitchFamily="34" charset="-122"/>
                <a:cs typeface="Consolas" pitchFamily="34" charset="-120"/>
              </a:rPr>
              <a:t>c₂.r</a:t>
            </a:r>
            <a:r>
              <a:rPr lang="en-US" sz="1700" b="1" dirty="0">
                <a:solidFill>
                  <a:srgbClr val="00B4D8"/>
                </a:solidFill>
                <a:latin typeface="Consolas" pitchFamily="34" charset="0"/>
                <a:ea typeface="Consolas" pitchFamily="34" charset="-122"/>
                <a:cs typeface="Consolas" pitchFamily="34" charset="-120"/>
              </a:rPr>
              <a:t>₂(gbest  −  xᵢ)</a:t>
            </a:r>
            <a:endParaRPr lang="en-US" sz="1700" dirty="0"/>
          </a:p>
        </p:txBody>
      </p:sp>
      <p:sp>
        <p:nvSpPr>
          <p:cNvPr id="8" name="Shape 4">
            <a:extLst>
              <a:ext uri="{FF2B5EF4-FFF2-40B4-BE49-F238E27FC236}">
                <a16:creationId xmlns:a16="http://schemas.microsoft.com/office/drawing/2014/main" id="{2E536650-04EE-C95D-548C-5A2568C049CB}"/>
              </a:ext>
            </a:extLst>
          </p:cNvPr>
          <p:cNvSpPr/>
          <p:nvPr/>
        </p:nvSpPr>
        <p:spPr>
          <a:xfrm>
            <a:off x="1798320" y="2441565"/>
            <a:ext cx="2816352" cy="3108960"/>
          </a:xfrm>
          <a:prstGeom prst="rect">
            <a:avLst/>
          </a:prstGeom>
          <a:solidFill>
            <a:srgbClr val="FFFFFF"/>
          </a:solidFill>
          <a:ln w="12700">
            <a:solidFill>
              <a:srgbClr val="3A86FF"/>
            </a:solidFill>
            <a:prstDash val="solid"/>
          </a:ln>
          <a:effectLst>
            <a:outerShdw blurRad="63500" dist="25400" dir="8100000" algn="bl" rotWithShape="0">
              <a:srgbClr val="000000">
                <a:alpha val="10000"/>
              </a:srgbClr>
            </a:outerShdw>
          </a:effectLst>
        </p:spPr>
      </p:sp>
      <p:sp>
        <p:nvSpPr>
          <p:cNvPr id="9" name="Shape 5">
            <a:extLst>
              <a:ext uri="{FF2B5EF4-FFF2-40B4-BE49-F238E27FC236}">
                <a16:creationId xmlns:a16="http://schemas.microsoft.com/office/drawing/2014/main" id="{D47035FC-21AB-8393-81CA-D815F0F95935}"/>
              </a:ext>
            </a:extLst>
          </p:cNvPr>
          <p:cNvSpPr/>
          <p:nvPr/>
        </p:nvSpPr>
        <p:spPr>
          <a:xfrm>
            <a:off x="1798320" y="2441565"/>
            <a:ext cx="2816352" cy="438912"/>
          </a:xfrm>
          <a:prstGeom prst="rect">
            <a:avLst/>
          </a:prstGeom>
          <a:solidFill>
            <a:srgbClr val="3A86FF"/>
          </a:solidFill>
          <a:ln w="12700">
            <a:solidFill>
              <a:srgbClr val="3A86FF"/>
            </a:solidFill>
            <a:prstDash val="solid"/>
          </a:ln>
        </p:spPr>
      </p:sp>
      <p:sp>
        <p:nvSpPr>
          <p:cNvPr id="10" name="Text 6">
            <a:extLst>
              <a:ext uri="{FF2B5EF4-FFF2-40B4-BE49-F238E27FC236}">
                <a16:creationId xmlns:a16="http://schemas.microsoft.com/office/drawing/2014/main" id="{20063DF8-6985-B663-2A04-F6B97B1DF1B2}"/>
              </a:ext>
            </a:extLst>
          </p:cNvPr>
          <p:cNvSpPr/>
          <p:nvPr/>
        </p:nvSpPr>
        <p:spPr>
          <a:xfrm>
            <a:off x="1844040" y="2441565"/>
            <a:ext cx="2724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Inertia Term   </a:t>
            </a:r>
            <a:r>
              <a:rPr lang="en-US" sz="1100" b="1" dirty="0" err="1">
                <a:solidFill>
                  <a:srgbClr val="FFFFFF"/>
                </a:solidFill>
                <a:latin typeface="Consolas" pitchFamily="34" charset="0"/>
                <a:ea typeface="Consolas" pitchFamily="34" charset="-122"/>
                <a:cs typeface="Consolas" pitchFamily="34" charset="-120"/>
              </a:rPr>
              <a:t>ω·v</a:t>
            </a:r>
            <a:r>
              <a:rPr lang="en-US" sz="1100" b="1" dirty="0">
                <a:solidFill>
                  <a:srgbClr val="FFFFFF"/>
                </a:solidFill>
                <a:latin typeface="Consolas" pitchFamily="34" charset="0"/>
                <a:ea typeface="Consolas" pitchFamily="34" charset="-122"/>
                <a:cs typeface="Consolas" pitchFamily="34" charset="-120"/>
              </a:rPr>
              <a:t>ᵢ</a:t>
            </a:r>
            <a:endParaRPr lang="en-US" sz="1100" dirty="0"/>
          </a:p>
        </p:txBody>
      </p:sp>
      <p:sp>
        <p:nvSpPr>
          <p:cNvPr id="11" name="Text 7">
            <a:extLst>
              <a:ext uri="{FF2B5EF4-FFF2-40B4-BE49-F238E27FC236}">
                <a16:creationId xmlns:a16="http://schemas.microsoft.com/office/drawing/2014/main" id="{6DE0C6A3-F321-D825-4835-453C0B8D1310}"/>
              </a:ext>
            </a:extLst>
          </p:cNvPr>
          <p:cNvSpPr/>
          <p:nvPr/>
        </p:nvSpPr>
        <p:spPr>
          <a:xfrm>
            <a:off x="1908048" y="2953629"/>
            <a:ext cx="2596896" cy="25146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ω  =  inertia weight</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Controls how much previous velocity is carried forward.</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High ω  →  exploration (particle travels far)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Low ω   →  exploitation (particle focuses locally)</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Typically: ω decreases over time from 0.9 → 0.4</a:t>
            </a:r>
            <a:endParaRPr lang="en-US" sz="1100" dirty="0"/>
          </a:p>
        </p:txBody>
      </p:sp>
      <p:sp>
        <p:nvSpPr>
          <p:cNvPr id="12" name="Shape 8">
            <a:extLst>
              <a:ext uri="{FF2B5EF4-FFF2-40B4-BE49-F238E27FC236}">
                <a16:creationId xmlns:a16="http://schemas.microsoft.com/office/drawing/2014/main" id="{BCA25D71-160F-1C5E-D214-9F75F802161C}"/>
              </a:ext>
            </a:extLst>
          </p:cNvPr>
          <p:cNvSpPr/>
          <p:nvPr/>
        </p:nvSpPr>
        <p:spPr>
          <a:xfrm>
            <a:off x="4742688" y="2441565"/>
            <a:ext cx="2816352" cy="3108960"/>
          </a:xfrm>
          <a:prstGeom prst="rect">
            <a:avLst/>
          </a:prstGeom>
          <a:solidFill>
            <a:srgbClr val="FFFFFF"/>
          </a:solidFill>
          <a:ln w="12700">
            <a:solidFill>
              <a:srgbClr val="06D6A0"/>
            </a:solidFill>
            <a:prstDash val="solid"/>
          </a:ln>
          <a:effectLst>
            <a:outerShdw blurRad="63500" dist="25400" dir="8100000" algn="bl" rotWithShape="0">
              <a:srgbClr val="000000">
                <a:alpha val="10000"/>
              </a:srgbClr>
            </a:outerShdw>
          </a:effectLst>
        </p:spPr>
      </p:sp>
      <p:sp>
        <p:nvSpPr>
          <p:cNvPr id="13" name="Shape 9">
            <a:extLst>
              <a:ext uri="{FF2B5EF4-FFF2-40B4-BE49-F238E27FC236}">
                <a16:creationId xmlns:a16="http://schemas.microsoft.com/office/drawing/2014/main" id="{528DFAD7-1415-4E5E-9EC3-48AD01EFB0E9}"/>
              </a:ext>
            </a:extLst>
          </p:cNvPr>
          <p:cNvSpPr/>
          <p:nvPr/>
        </p:nvSpPr>
        <p:spPr>
          <a:xfrm>
            <a:off x="4742688" y="2441565"/>
            <a:ext cx="2816352" cy="438912"/>
          </a:xfrm>
          <a:prstGeom prst="rect">
            <a:avLst/>
          </a:prstGeom>
          <a:solidFill>
            <a:srgbClr val="06D6A0"/>
          </a:solidFill>
          <a:ln w="12700">
            <a:solidFill>
              <a:srgbClr val="06D6A0"/>
            </a:solidFill>
            <a:prstDash val="solid"/>
          </a:ln>
        </p:spPr>
      </p:sp>
      <p:sp>
        <p:nvSpPr>
          <p:cNvPr id="14" name="Text 10">
            <a:extLst>
              <a:ext uri="{FF2B5EF4-FFF2-40B4-BE49-F238E27FC236}">
                <a16:creationId xmlns:a16="http://schemas.microsoft.com/office/drawing/2014/main" id="{504798C8-1B13-781E-31C6-290B0AF24D3B}"/>
              </a:ext>
            </a:extLst>
          </p:cNvPr>
          <p:cNvSpPr/>
          <p:nvPr/>
        </p:nvSpPr>
        <p:spPr>
          <a:xfrm>
            <a:off x="4788408" y="2441565"/>
            <a:ext cx="2724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Cognitive Term   </a:t>
            </a:r>
            <a:r>
              <a:rPr lang="en-US" sz="1100" b="1" dirty="0" err="1">
                <a:solidFill>
                  <a:srgbClr val="FFFFFF"/>
                </a:solidFill>
                <a:latin typeface="Consolas" pitchFamily="34" charset="0"/>
                <a:ea typeface="Consolas" pitchFamily="34" charset="-122"/>
                <a:cs typeface="Consolas" pitchFamily="34" charset="-120"/>
              </a:rPr>
              <a:t>c₁r</a:t>
            </a:r>
            <a:r>
              <a:rPr lang="en-US" sz="1100" b="1" dirty="0">
                <a:solidFill>
                  <a:srgbClr val="FFFFFF"/>
                </a:solidFill>
                <a:latin typeface="Consolas" pitchFamily="34" charset="0"/>
                <a:ea typeface="Consolas" pitchFamily="34" charset="-122"/>
                <a:cs typeface="Consolas" pitchFamily="34" charset="-120"/>
              </a:rPr>
              <a:t>₁(pbest_i − xᵢ)</a:t>
            </a:r>
            <a:endParaRPr lang="en-US" sz="1100" dirty="0"/>
          </a:p>
        </p:txBody>
      </p:sp>
      <p:sp>
        <p:nvSpPr>
          <p:cNvPr id="15" name="Text 11">
            <a:extLst>
              <a:ext uri="{FF2B5EF4-FFF2-40B4-BE49-F238E27FC236}">
                <a16:creationId xmlns:a16="http://schemas.microsoft.com/office/drawing/2014/main" id="{EC8E2E43-4FD7-58DD-4828-609E31199C64}"/>
              </a:ext>
            </a:extLst>
          </p:cNvPr>
          <p:cNvSpPr/>
          <p:nvPr/>
        </p:nvSpPr>
        <p:spPr>
          <a:xfrm>
            <a:off x="4852416" y="2953629"/>
            <a:ext cx="2596896" cy="25146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c₁  =  cognitive acceleration coeff.</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r₁  =  random ∈ [0, 1]</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Pulls particle toward its own personal best.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(pbest_i − xᵢ) = displacement to personal best</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Models individual memory / self-confidence.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Typically c₁ = 2.0</a:t>
            </a:r>
            <a:endParaRPr lang="en-US" sz="1100" dirty="0"/>
          </a:p>
        </p:txBody>
      </p:sp>
      <p:sp>
        <p:nvSpPr>
          <p:cNvPr id="16" name="Shape 12">
            <a:extLst>
              <a:ext uri="{FF2B5EF4-FFF2-40B4-BE49-F238E27FC236}">
                <a16:creationId xmlns:a16="http://schemas.microsoft.com/office/drawing/2014/main" id="{DFC17979-98DA-0A9A-497D-6EBE51735785}"/>
              </a:ext>
            </a:extLst>
          </p:cNvPr>
          <p:cNvSpPr/>
          <p:nvPr/>
        </p:nvSpPr>
        <p:spPr>
          <a:xfrm>
            <a:off x="7687056" y="2441565"/>
            <a:ext cx="2816352" cy="3108960"/>
          </a:xfrm>
          <a:prstGeom prst="rect">
            <a:avLst/>
          </a:prstGeom>
          <a:solidFill>
            <a:srgbClr val="FFFFFF"/>
          </a:solidFill>
          <a:ln w="12700">
            <a:solidFill>
              <a:srgbClr val="F72585"/>
            </a:solidFill>
            <a:prstDash val="solid"/>
          </a:ln>
          <a:effectLst>
            <a:outerShdw blurRad="63500" dist="25400" dir="8100000" algn="bl" rotWithShape="0">
              <a:srgbClr val="000000">
                <a:alpha val="10000"/>
              </a:srgbClr>
            </a:outerShdw>
          </a:effectLst>
        </p:spPr>
      </p:sp>
      <p:sp>
        <p:nvSpPr>
          <p:cNvPr id="17" name="Shape 13">
            <a:extLst>
              <a:ext uri="{FF2B5EF4-FFF2-40B4-BE49-F238E27FC236}">
                <a16:creationId xmlns:a16="http://schemas.microsoft.com/office/drawing/2014/main" id="{28B2FDE4-AA3B-497E-C0B3-33A0E0A69110}"/>
              </a:ext>
            </a:extLst>
          </p:cNvPr>
          <p:cNvSpPr/>
          <p:nvPr/>
        </p:nvSpPr>
        <p:spPr>
          <a:xfrm>
            <a:off x="7687056" y="2441565"/>
            <a:ext cx="2816352" cy="438912"/>
          </a:xfrm>
          <a:prstGeom prst="rect">
            <a:avLst/>
          </a:prstGeom>
          <a:solidFill>
            <a:srgbClr val="F72585"/>
          </a:solidFill>
          <a:ln w="12700">
            <a:solidFill>
              <a:srgbClr val="F72585"/>
            </a:solidFill>
            <a:prstDash val="solid"/>
          </a:ln>
        </p:spPr>
      </p:sp>
      <p:sp>
        <p:nvSpPr>
          <p:cNvPr id="18" name="Text 14">
            <a:extLst>
              <a:ext uri="{FF2B5EF4-FFF2-40B4-BE49-F238E27FC236}">
                <a16:creationId xmlns:a16="http://schemas.microsoft.com/office/drawing/2014/main" id="{9BA9D5EC-D5D3-3BD7-06B0-6E1B04149C3D}"/>
              </a:ext>
            </a:extLst>
          </p:cNvPr>
          <p:cNvSpPr/>
          <p:nvPr/>
        </p:nvSpPr>
        <p:spPr>
          <a:xfrm>
            <a:off x="7732776" y="2441565"/>
            <a:ext cx="2724912"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Social Term   </a:t>
            </a:r>
            <a:r>
              <a:rPr lang="en-US" sz="1100" b="1" dirty="0" err="1">
                <a:solidFill>
                  <a:srgbClr val="FFFFFF"/>
                </a:solidFill>
                <a:latin typeface="Consolas" pitchFamily="34" charset="0"/>
                <a:ea typeface="Consolas" pitchFamily="34" charset="-122"/>
                <a:cs typeface="Consolas" pitchFamily="34" charset="-120"/>
              </a:rPr>
              <a:t>c₂r</a:t>
            </a:r>
            <a:r>
              <a:rPr lang="en-US" sz="1100" b="1" dirty="0">
                <a:solidFill>
                  <a:srgbClr val="FFFFFF"/>
                </a:solidFill>
                <a:latin typeface="Consolas" pitchFamily="34" charset="0"/>
                <a:ea typeface="Consolas" pitchFamily="34" charset="-122"/>
                <a:cs typeface="Consolas" pitchFamily="34" charset="-120"/>
              </a:rPr>
              <a:t>₂(gbest − xᵢ)</a:t>
            </a:r>
            <a:endParaRPr lang="en-US" sz="1100" dirty="0"/>
          </a:p>
        </p:txBody>
      </p:sp>
      <p:sp>
        <p:nvSpPr>
          <p:cNvPr id="19" name="Text 15">
            <a:extLst>
              <a:ext uri="{FF2B5EF4-FFF2-40B4-BE49-F238E27FC236}">
                <a16:creationId xmlns:a16="http://schemas.microsoft.com/office/drawing/2014/main" id="{7C48B7CB-F9D5-5D1A-9B56-39C58CB66B9C}"/>
              </a:ext>
            </a:extLst>
          </p:cNvPr>
          <p:cNvSpPr/>
          <p:nvPr/>
        </p:nvSpPr>
        <p:spPr>
          <a:xfrm>
            <a:off x="7796784" y="2953629"/>
            <a:ext cx="2596896" cy="25146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c₂  =  social acceleration coeff.</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r₂  =  random ∈ [0, 1]</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Pulls particle toward the global best position.</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(gbest − xᵢ) = displacement to swarm best</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Models social learning from the group.</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Typically c₂ = 2.0</a:t>
            </a:r>
            <a:endParaRPr lang="en-US" sz="1100" dirty="0"/>
          </a:p>
        </p:txBody>
      </p:sp>
    </p:spTree>
    <p:extLst>
      <p:ext uri="{BB962C8B-B14F-4D97-AF65-F5344CB8AC3E}">
        <p14:creationId xmlns:p14="http://schemas.microsoft.com/office/powerpoint/2010/main" val="1583586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8878"/>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2681473" y="557513"/>
            <a:ext cx="6838756" cy="584775"/>
          </a:xfrm>
          <a:prstGeom prst="rect">
            <a:avLst/>
          </a:prstGeom>
          <a:noFill/>
        </p:spPr>
        <p:txBody>
          <a:bodyPr wrap="square" rtlCol="0">
            <a:spAutoFit/>
          </a:bodyPr>
          <a:lstStyle/>
          <a:p>
            <a:pPr algn="ctr"/>
            <a:r>
              <a:rPr lang="en-US" sz="3200" b="1" dirty="0">
                <a:latin typeface="+mj-lt"/>
              </a:rPr>
              <a:t>Position Update &amp; </a:t>
            </a:r>
            <a:r>
              <a:rPr lang="en-US" sz="3200" b="1" dirty="0" err="1">
                <a:latin typeface="+mj-lt"/>
              </a:rPr>
              <a:t>pbest</a:t>
            </a:r>
            <a:r>
              <a:rPr lang="en-US" sz="3200" b="1" dirty="0">
                <a:latin typeface="+mj-lt"/>
              </a:rPr>
              <a:t> / </a:t>
            </a:r>
            <a:r>
              <a:rPr lang="en-US" sz="3200" b="1" dirty="0" err="1">
                <a:latin typeface="+mj-lt"/>
              </a:rPr>
              <a:t>gbest</a:t>
            </a:r>
            <a:r>
              <a:rPr lang="en-US" sz="3200" b="1" dirty="0">
                <a:latin typeface="+mj-lt"/>
              </a:rPr>
              <a:t> Rules</a:t>
            </a:r>
            <a:endParaRPr lang="en-LK" sz="3200" b="1" dirty="0">
              <a:latin typeface="+mj-lt"/>
            </a:endParaRPr>
          </a:p>
        </p:txBody>
      </p:sp>
      <p:sp>
        <p:nvSpPr>
          <p:cNvPr id="6" name="Shape 3">
            <a:extLst>
              <a:ext uri="{FF2B5EF4-FFF2-40B4-BE49-F238E27FC236}">
                <a16:creationId xmlns:a16="http://schemas.microsoft.com/office/drawing/2014/main" id="{F41DA952-0BA6-E90A-DF3B-774C6E83B8E8}"/>
              </a:ext>
            </a:extLst>
          </p:cNvPr>
          <p:cNvSpPr/>
          <p:nvPr/>
        </p:nvSpPr>
        <p:spPr>
          <a:xfrm>
            <a:off x="1844040" y="1690923"/>
            <a:ext cx="4206240" cy="658368"/>
          </a:xfrm>
          <a:prstGeom prst="rect">
            <a:avLst/>
          </a:prstGeom>
          <a:solidFill>
            <a:srgbClr val="0D1B2A"/>
          </a:solidFill>
          <a:ln w="12700">
            <a:solidFill>
              <a:srgbClr val="00B4D8"/>
            </a:solidFill>
            <a:prstDash val="solid"/>
          </a:ln>
        </p:spPr>
      </p:sp>
      <p:sp>
        <p:nvSpPr>
          <p:cNvPr id="7" name="Text 4">
            <a:extLst>
              <a:ext uri="{FF2B5EF4-FFF2-40B4-BE49-F238E27FC236}">
                <a16:creationId xmlns:a16="http://schemas.microsoft.com/office/drawing/2014/main" id="{6A695278-5BB8-8B8C-4241-1A204F6B978A}"/>
              </a:ext>
            </a:extLst>
          </p:cNvPr>
          <p:cNvSpPr/>
          <p:nvPr/>
        </p:nvSpPr>
        <p:spPr>
          <a:xfrm>
            <a:off x="1889760" y="1690923"/>
            <a:ext cx="4206240" cy="658368"/>
          </a:xfrm>
          <a:prstGeom prst="rect">
            <a:avLst/>
          </a:prstGeom>
          <a:noFill/>
          <a:ln/>
        </p:spPr>
        <p:txBody>
          <a:bodyPr wrap="square" lIns="0" tIns="0" rIns="0" bIns="0" rtlCol="0" anchor="ctr"/>
          <a:lstStyle/>
          <a:p>
            <a:pPr marL="0" indent="0" algn="ctr">
              <a:buNone/>
            </a:pPr>
            <a:r>
              <a:rPr lang="en-US" sz="1800" b="1" dirty="0">
                <a:solidFill>
                  <a:srgbClr val="00B4D8"/>
                </a:solidFill>
                <a:latin typeface="Consolas" pitchFamily="34" charset="0"/>
                <a:ea typeface="Consolas" pitchFamily="34" charset="-122"/>
                <a:cs typeface="Consolas" pitchFamily="34" charset="-120"/>
              </a:rPr>
              <a:t>xᵢ  =  xᵢ  +  vᵢ</a:t>
            </a:r>
            <a:endParaRPr lang="en-US" sz="1800" dirty="0"/>
          </a:p>
        </p:txBody>
      </p:sp>
      <p:sp>
        <p:nvSpPr>
          <p:cNvPr id="8" name="Shape 5">
            <a:extLst>
              <a:ext uri="{FF2B5EF4-FFF2-40B4-BE49-F238E27FC236}">
                <a16:creationId xmlns:a16="http://schemas.microsoft.com/office/drawing/2014/main" id="{36C5AC7E-E232-D9AA-A8F8-E87A45FAE606}"/>
              </a:ext>
            </a:extLst>
          </p:cNvPr>
          <p:cNvSpPr/>
          <p:nvPr/>
        </p:nvSpPr>
        <p:spPr>
          <a:xfrm>
            <a:off x="6324600" y="1690923"/>
            <a:ext cx="4069080" cy="658368"/>
          </a:xfrm>
          <a:prstGeom prst="rect">
            <a:avLst/>
          </a:prstGeom>
          <a:solidFill>
            <a:srgbClr val="EFF6FF"/>
          </a:solidFill>
          <a:ln w="12700">
            <a:solidFill>
              <a:srgbClr val="3A86FF"/>
            </a:solidFill>
            <a:prstDash val="solid"/>
          </a:ln>
        </p:spPr>
      </p:sp>
      <p:sp>
        <p:nvSpPr>
          <p:cNvPr id="9" name="Text 6">
            <a:extLst>
              <a:ext uri="{FF2B5EF4-FFF2-40B4-BE49-F238E27FC236}">
                <a16:creationId xmlns:a16="http://schemas.microsoft.com/office/drawing/2014/main" id="{2A1014D5-220A-EF0C-FB24-5D7757107838}"/>
              </a:ext>
            </a:extLst>
          </p:cNvPr>
          <p:cNvSpPr/>
          <p:nvPr/>
        </p:nvSpPr>
        <p:spPr>
          <a:xfrm>
            <a:off x="6461760" y="1690923"/>
            <a:ext cx="3794760" cy="658368"/>
          </a:xfrm>
          <a:prstGeom prst="rect">
            <a:avLst/>
          </a:prstGeom>
          <a:noFill/>
          <a:ln/>
        </p:spPr>
        <p:txBody>
          <a:bodyPr wrap="square" rtlCol="0" anchor="ctr"/>
          <a:lstStyle/>
          <a:p>
            <a:pPr marL="0" indent="0">
              <a:buNone/>
            </a:pPr>
            <a:r>
              <a:rPr lang="en-US" sz="1200" dirty="0">
                <a:solidFill>
                  <a:srgbClr val="1E3A8A"/>
                </a:solidFill>
                <a:latin typeface="Consolas" pitchFamily="34" charset="0"/>
                <a:ea typeface="Consolas" pitchFamily="34" charset="-122"/>
                <a:cs typeface="Consolas" pitchFamily="34" charset="-120"/>
              </a:rPr>
              <a:t>pbest_i  is updated only if  f(xᵢ_new) &lt; f(pbest_i)</a:t>
            </a:r>
            <a:endParaRPr lang="en-US" sz="1200" dirty="0"/>
          </a:p>
        </p:txBody>
      </p:sp>
      <p:sp>
        <p:nvSpPr>
          <p:cNvPr id="10" name="Shape 7">
            <a:extLst>
              <a:ext uri="{FF2B5EF4-FFF2-40B4-BE49-F238E27FC236}">
                <a16:creationId xmlns:a16="http://schemas.microsoft.com/office/drawing/2014/main" id="{338BA650-5D89-D18B-BD34-5EC29C3B2A03}"/>
              </a:ext>
            </a:extLst>
          </p:cNvPr>
          <p:cNvSpPr/>
          <p:nvPr/>
        </p:nvSpPr>
        <p:spPr>
          <a:xfrm>
            <a:off x="1844040" y="2513883"/>
            <a:ext cx="4114800" cy="2834640"/>
          </a:xfrm>
          <a:prstGeom prst="rect">
            <a:avLst/>
          </a:prstGeom>
          <a:solidFill>
            <a:srgbClr val="FFFFFF"/>
          </a:solidFill>
          <a:ln w="12700">
            <a:solidFill>
              <a:srgbClr val="3A86FF"/>
            </a:solidFill>
            <a:prstDash val="solid"/>
          </a:ln>
          <a:effectLst>
            <a:outerShdw blurRad="63500" dist="25400" dir="8100000" algn="bl" rotWithShape="0">
              <a:srgbClr val="000000">
                <a:alpha val="10000"/>
              </a:srgbClr>
            </a:outerShdw>
          </a:effectLst>
        </p:spPr>
      </p:sp>
      <p:sp>
        <p:nvSpPr>
          <p:cNvPr id="11" name="Shape 8">
            <a:extLst>
              <a:ext uri="{FF2B5EF4-FFF2-40B4-BE49-F238E27FC236}">
                <a16:creationId xmlns:a16="http://schemas.microsoft.com/office/drawing/2014/main" id="{FCAE5715-C146-E7DF-6E36-D9E0BEDC5218}"/>
              </a:ext>
            </a:extLst>
          </p:cNvPr>
          <p:cNvSpPr/>
          <p:nvPr/>
        </p:nvSpPr>
        <p:spPr>
          <a:xfrm>
            <a:off x="1844040" y="2513883"/>
            <a:ext cx="4114800" cy="384048"/>
          </a:xfrm>
          <a:prstGeom prst="rect">
            <a:avLst/>
          </a:prstGeom>
          <a:solidFill>
            <a:srgbClr val="3A86FF"/>
          </a:solidFill>
          <a:ln w="12700">
            <a:solidFill>
              <a:srgbClr val="3A86FF"/>
            </a:solidFill>
            <a:prstDash val="solid"/>
          </a:ln>
        </p:spPr>
      </p:sp>
      <p:sp>
        <p:nvSpPr>
          <p:cNvPr id="12" name="Text 9">
            <a:extLst>
              <a:ext uri="{FF2B5EF4-FFF2-40B4-BE49-F238E27FC236}">
                <a16:creationId xmlns:a16="http://schemas.microsoft.com/office/drawing/2014/main" id="{A06C8320-87C0-B19D-2D69-B4C17EF702B0}"/>
              </a:ext>
            </a:extLst>
          </p:cNvPr>
          <p:cNvSpPr/>
          <p:nvPr/>
        </p:nvSpPr>
        <p:spPr>
          <a:xfrm>
            <a:off x="1844040" y="2513883"/>
            <a:ext cx="41148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Personal Best (pbest) Update</a:t>
            </a:r>
            <a:endParaRPr lang="en-US" sz="1200" dirty="0"/>
          </a:p>
        </p:txBody>
      </p:sp>
      <p:sp>
        <p:nvSpPr>
          <p:cNvPr id="13" name="Shape 10">
            <a:extLst>
              <a:ext uri="{FF2B5EF4-FFF2-40B4-BE49-F238E27FC236}">
                <a16:creationId xmlns:a16="http://schemas.microsoft.com/office/drawing/2014/main" id="{8722DBBA-BE66-6233-614A-90EDECB20132}"/>
              </a:ext>
            </a:extLst>
          </p:cNvPr>
          <p:cNvSpPr/>
          <p:nvPr/>
        </p:nvSpPr>
        <p:spPr>
          <a:xfrm>
            <a:off x="1953768" y="2989371"/>
            <a:ext cx="3895344" cy="749808"/>
          </a:xfrm>
          <a:prstGeom prst="rect">
            <a:avLst/>
          </a:prstGeom>
          <a:solidFill>
            <a:srgbClr val="0D1B2A"/>
          </a:solidFill>
          <a:ln w="12700">
            <a:solidFill>
              <a:srgbClr val="3A86FF"/>
            </a:solidFill>
            <a:prstDash val="solid"/>
          </a:ln>
        </p:spPr>
      </p:sp>
      <p:sp>
        <p:nvSpPr>
          <p:cNvPr id="14" name="Text 11">
            <a:extLst>
              <a:ext uri="{FF2B5EF4-FFF2-40B4-BE49-F238E27FC236}">
                <a16:creationId xmlns:a16="http://schemas.microsoft.com/office/drawing/2014/main" id="{647E39DB-71F9-D675-B6EC-6408B39714C2}"/>
              </a:ext>
            </a:extLst>
          </p:cNvPr>
          <p:cNvSpPr/>
          <p:nvPr/>
        </p:nvSpPr>
        <p:spPr>
          <a:xfrm>
            <a:off x="1953768" y="2989371"/>
            <a:ext cx="3895344" cy="749808"/>
          </a:xfrm>
          <a:prstGeom prst="rect">
            <a:avLst/>
          </a:prstGeom>
          <a:noFill/>
          <a:ln/>
        </p:spPr>
        <p:txBody>
          <a:bodyPr wrap="square" lIns="0" tIns="0" rIns="0" bIns="0" rtlCol="0" anchor="ctr"/>
          <a:lstStyle/>
          <a:p>
            <a:pPr marL="0" indent="0" algn="ctr">
              <a:buNone/>
            </a:pPr>
            <a:r>
              <a:rPr lang="en-US" sz="1100" b="1" dirty="0">
                <a:solidFill>
                  <a:srgbClr val="00B4D8"/>
                </a:solidFill>
                <a:latin typeface="Consolas" pitchFamily="34" charset="0"/>
                <a:ea typeface="Consolas" pitchFamily="34" charset="-122"/>
                <a:cs typeface="Consolas" pitchFamily="34" charset="-120"/>
              </a:rPr>
              <a:t>if  f(xᵢ)  &lt;  f(pbest_i)</a:t>
            </a:r>
            <a:endParaRPr lang="en-US" sz="1100" dirty="0"/>
          </a:p>
          <a:p>
            <a:pPr marL="0" indent="0" algn="ctr">
              <a:buNone/>
            </a:pPr>
            <a:r>
              <a:rPr lang="en-US" sz="1100" b="1" dirty="0">
                <a:solidFill>
                  <a:srgbClr val="00B4D8"/>
                </a:solidFill>
                <a:latin typeface="Consolas" pitchFamily="34" charset="0"/>
                <a:ea typeface="Consolas" pitchFamily="34" charset="-122"/>
                <a:cs typeface="Consolas" pitchFamily="34" charset="-120"/>
              </a:rPr>
              <a:t>   →  pbest_i  =  xᵢ</a:t>
            </a:r>
            <a:endParaRPr lang="en-US" sz="1100" dirty="0"/>
          </a:p>
        </p:txBody>
      </p:sp>
      <p:sp>
        <p:nvSpPr>
          <p:cNvPr id="15" name="Text 12">
            <a:extLst>
              <a:ext uri="{FF2B5EF4-FFF2-40B4-BE49-F238E27FC236}">
                <a16:creationId xmlns:a16="http://schemas.microsoft.com/office/drawing/2014/main" id="{28B2AFCD-DDC1-3D51-407D-29E0C17BE868}"/>
              </a:ext>
            </a:extLst>
          </p:cNvPr>
          <p:cNvSpPr/>
          <p:nvPr/>
        </p:nvSpPr>
        <p:spPr>
          <a:xfrm>
            <a:off x="1953768" y="3830619"/>
            <a:ext cx="3895344" cy="14173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Each particle remembers the best position it has personally visited. After each move, compare the new fitness to the stored personal best and replace if better.</a:t>
            </a:r>
            <a:endParaRPr lang="en-US" sz="1150" dirty="0"/>
          </a:p>
        </p:txBody>
      </p:sp>
      <p:sp>
        <p:nvSpPr>
          <p:cNvPr id="16" name="Shape 13">
            <a:extLst>
              <a:ext uri="{FF2B5EF4-FFF2-40B4-BE49-F238E27FC236}">
                <a16:creationId xmlns:a16="http://schemas.microsoft.com/office/drawing/2014/main" id="{56FF453A-1CBF-9F4D-A3F9-67A3245B55DB}"/>
              </a:ext>
            </a:extLst>
          </p:cNvPr>
          <p:cNvSpPr/>
          <p:nvPr/>
        </p:nvSpPr>
        <p:spPr>
          <a:xfrm>
            <a:off x="6278880" y="2513883"/>
            <a:ext cx="4114800" cy="2834640"/>
          </a:xfrm>
          <a:prstGeom prst="rect">
            <a:avLst/>
          </a:prstGeom>
          <a:solidFill>
            <a:srgbClr val="FFFFFF"/>
          </a:solidFill>
          <a:ln w="12700">
            <a:solidFill>
              <a:srgbClr val="F4A261"/>
            </a:solidFill>
            <a:prstDash val="solid"/>
          </a:ln>
          <a:effectLst>
            <a:outerShdw blurRad="63500" dist="25400" dir="8100000" algn="bl" rotWithShape="0">
              <a:srgbClr val="000000">
                <a:alpha val="10000"/>
              </a:srgbClr>
            </a:outerShdw>
          </a:effectLst>
        </p:spPr>
      </p:sp>
      <p:sp>
        <p:nvSpPr>
          <p:cNvPr id="17" name="Shape 14">
            <a:extLst>
              <a:ext uri="{FF2B5EF4-FFF2-40B4-BE49-F238E27FC236}">
                <a16:creationId xmlns:a16="http://schemas.microsoft.com/office/drawing/2014/main" id="{FAD5A755-D2C1-82CD-C970-2C2CCD13C666}"/>
              </a:ext>
            </a:extLst>
          </p:cNvPr>
          <p:cNvSpPr/>
          <p:nvPr/>
        </p:nvSpPr>
        <p:spPr>
          <a:xfrm>
            <a:off x="6278880" y="2513883"/>
            <a:ext cx="4114800" cy="384048"/>
          </a:xfrm>
          <a:prstGeom prst="rect">
            <a:avLst/>
          </a:prstGeom>
          <a:solidFill>
            <a:srgbClr val="F4A261"/>
          </a:solidFill>
          <a:ln w="12700">
            <a:solidFill>
              <a:srgbClr val="F4A261"/>
            </a:solidFill>
            <a:prstDash val="solid"/>
          </a:ln>
        </p:spPr>
      </p:sp>
      <p:sp>
        <p:nvSpPr>
          <p:cNvPr id="18" name="Text 15">
            <a:extLst>
              <a:ext uri="{FF2B5EF4-FFF2-40B4-BE49-F238E27FC236}">
                <a16:creationId xmlns:a16="http://schemas.microsoft.com/office/drawing/2014/main" id="{C172D33F-0B9C-A107-E916-0807716F1128}"/>
              </a:ext>
            </a:extLst>
          </p:cNvPr>
          <p:cNvSpPr/>
          <p:nvPr/>
        </p:nvSpPr>
        <p:spPr>
          <a:xfrm>
            <a:off x="6278880" y="2513883"/>
            <a:ext cx="41148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Global Best (gbest) Update</a:t>
            </a:r>
            <a:endParaRPr lang="en-US" sz="1200" dirty="0"/>
          </a:p>
        </p:txBody>
      </p:sp>
      <p:sp>
        <p:nvSpPr>
          <p:cNvPr id="19" name="Shape 16">
            <a:extLst>
              <a:ext uri="{FF2B5EF4-FFF2-40B4-BE49-F238E27FC236}">
                <a16:creationId xmlns:a16="http://schemas.microsoft.com/office/drawing/2014/main" id="{062F1821-016B-7AF7-0209-7FC982BBDCA5}"/>
              </a:ext>
            </a:extLst>
          </p:cNvPr>
          <p:cNvSpPr/>
          <p:nvPr/>
        </p:nvSpPr>
        <p:spPr>
          <a:xfrm>
            <a:off x="6388608" y="2989371"/>
            <a:ext cx="3895344" cy="749808"/>
          </a:xfrm>
          <a:prstGeom prst="rect">
            <a:avLst/>
          </a:prstGeom>
          <a:solidFill>
            <a:srgbClr val="0D1B2A"/>
          </a:solidFill>
          <a:ln w="12700">
            <a:solidFill>
              <a:srgbClr val="F4A261"/>
            </a:solidFill>
            <a:prstDash val="solid"/>
          </a:ln>
        </p:spPr>
      </p:sp>
      <p:sp>
        <p:nvSpPr>
          <p:cNvPr id="20" name="Text 17">
            <a:extLst>
              <a:ext uri="{FF2B5EF4-FFF2-40B4-BE49-F238E27FC236}">
                <a16:creationId xmlns:a16="http://schemas.microsoft.com/office/drawing/2014/main" id="{78636DC6-8ABB-08F1-1A61-91C2E14CEFBC}"/>
              </a:ext>
            </a:extLst>
          </p:cNvPr>
          <p:cNvSpPr/>
          <p:nvPr/>
        </p:nvSpPr>
        <p:spPr>
          <a:xfrm>
            <a:off x="6388608" y="2989371"/>
            <a:ext cx="3895344" cy="749808"/>
          </a:xfrm>
          <a:prstGeom prst="rect">
            <a:avLst/>
          </a:prstGeom>
          <a:noFill/>
          <a:ln/>
        </p:spPr>
        <p:txBody>
          <a:bodyPr wrap="square" lIns="0" tIns="0" rIns="0" bIns="0" rtlCol="0" anchor="ctr"/>
          <a:lstStyle/>
          <a:p>
            <a:pPr marL="0" indent="0" algn="ctr">
              <a:buNone/>
            </a:pPr>
            <a:r>
              <a:rPr lang="en-US" sz="1100" b="1" dirty="0">
                <a:solidFill>
                  <a:srgbClr val="00B4D8"/>
                </a:solidFill>
                <a:latin typeface="Consolas" pitchFamily="34" charset="0"/>
                <a:ea typeface="Consolas" pitchFamily="34" charset="-122"/>
                <a:cs typeface="Consolas" pitchFamily="34" charset="-120"/>
              </a:rPr>
              <a:t>gbest  =  arg min  f(pbest_i)</a:t>
            </a:r>
            <a:endParaRPr lang="en-US" sz="1100" dirty="0"/>
          </a:p>
          <a:p>
            <a:pPr marL="0" indent="0" algn="ctr">
              <a:buNone/>
            </a:pPr>
            <a:r>
              <a:rPr lang="en-US" sz="1100" b="1" dirty="0">
                <a:solidFill>
                  <a:srgbClr val="00B4D8"/>
                </a:solidFill>
                <a:latin typeface="Consolas" pitchFamily="34" charset="0"/>
                <a:ea typeface="Consolas" pitchFamily="34" charset="-122"/>
                <a:cs typeface="Consolas" pitchFamily="34" charset="-120"/>
              </a:rPr>
              <a:t>             ∀ i ∈ {1 … NP}</a:t>
            </a:r>
            <a:endParaRPr lang="en-US" sz="1100" dirty="0"/>
          </a:p>
        </p:txBody>
      </p:sp>
      <p:sp>
        <p:nvSpPr>
          <p:cNvPr id="21" name="Text 18">
            <a:extLst>
              <a:ext uri="{FF2B5EF4-FFF2-40B4-BE49-F238E27FC236}">
                <a16:creationId xmlns:a16="http://schemas.microsoft.com/office/drawing/2014/main" id="{AC9882BD-CFA0-413C-5A0D-DE608479CFFA}"/>
              </a:ext>
            </a:extLst>
          </p:cNvPr>
          <p:cNvSpPr/>
          <p:nvPr/>
        </p:nvSpPr>
        <p:spPr>
          <a:xfrm>
            <a:off x="6388608" y="3830619"/>
            <a:ext cx="3895344" cy="14173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The global best is the best position found by ANY particle across the entire swarm. Updated by scanning all pbest values each iteration.</a:t>
            </a:r>
            <a:endParaRPr lang="en-US" sz="1150" dirty="0"/>
          </a:p>
        </p:txBody>
      </p:sp>
    </p:spTree>
    <p:extLst>
      <p:ext uri="{BB962C8B-B14F-4D97-AF65-F5344CB8AC3E}">
        <p14:creationId xmlns:p14="http://schemas.microsoft.com/office/powerpoint/2010/main" val="343790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2826869" y="535172"/>
            <a:ext cx="6431870" cy="584775"/>
          </a:xfrm>
          <a:prstGeom prst="rect">
            <a:avLst/>
          </a:prstGeom>
          <a:noFill/>
        </p:spPr>
        <p:txBody>
          <a:bodyPr wrap="square" rtlCol="0">
            <a:spAutoFit/>
          </a:bodyPr>
          <a:lstStyle/>
          <a:p>
            <a:pPr algn="ctr"/>
            <a:r>
              <a:rPr lang="en-LK" sz="3200" b="1" dirty="0">
                <a:latin typeface="+mj-lt"/>
              </a:rPr>
              <a:t>Modified PSO– Elite Archive (Top-M)</a:t>
            </a:r>
          </a:p>
        </p:txBody>
      </p:sp>
      <p:sp>
        <p:nvSpPr>
          <p:cNvPr id="6" name="Text 2">
            <a:extLst>
              <a:ext uri="{FF2B5EF4-FFF2-40B4-BE49-F238E27FC236}">
                <a16:creationId xmlns:a16="http://schemas.microsoft.com/office/drawing/2014/main" id="{68AEBF43-616F-4A29-60E4-1C2C1D5633BB}"/>
              </a:ext>
            </a:extLst>
          </p:cNvPr>
          <p:cNvSpPr/>
          <p:nvPr/>
        </p:nvSpPr>
        <p:spPr>
          <a:xfrm>
            <a:off x="1719639" y="1662046"/>
            <a:ext cx="8412480" cy="45720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The notes introduce a key modification: instead of a single gbest, an archive of the top M particles is maintained each iteration.</a:t>
            </a:r>
            <a:endParaRPr lang="en-US" sz="1300" dirty="0"/>
          </a:p>
        </p:txBody>
      </p:sp>
      <p:sp>
        <p:nvSpPr>
          <p:cNvPr id="8" name="Text 3">
            <a:extLst>
              <a:ext uri="{FF2B5EF4-FFF2-40B4-BE49-F238E27FC236}">
                <a16:creationId xmlns:a16="http://schemas.microsoft.com/office/drawing/2014/main" id="{F69E0C16-1855-3E84-76E2-C388AD00961B}"/>
              </a:ext>
            </a:extLst>
          </p:cNvPr>
          <p:cNvSpPr/>
          <p:nvPr/>
        </p:nvSpPr>
        <p:spPr>
          <a:xfrm>
            <a:off x="1719639" y="2183254"/>
            <a:ext cx="274320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Archive Size Formula:</a:t>
            </a:r>
            <a:endParaRPr lang="en-US" sz="1300" dirty="0"/>
          </a:p>
        </p:txBody>
      </p:sp>
      <p:sp>
        <p:nvSpPr>
          <p:cNvPr id="9" name="Shape 4">
            <a:extLst>
              <a:ext uri="{FF2B5EF4-FFF2-40B4-BE49-F238E27FC236}">
                <a16:creationId xmlns:a16="http://schemas.microsoft.com/office/drawing/2014/main" id="{4507418A-8B05-CCAF-F921-C4FC31ACE62C}"/>
              </a:ext>
            </a:extLst>
          </p:cNvPr>
          <p:cNvSpPr/>
          <p:nvPr/>
        </p:nvSpPr>
        <p:spPr>
          <a:xfrm>
            <a:off x="1719639" y="2576446"/>
            <a:ext cx="3931920" cy="658368"/>
          </a:xfrm>
          <a:prstGeom prst="rect">
            <a:avLst/>
          </a:prstGeom>
          <a:solidFill>
            <a:srgbClr val="0D1B2A"/>
          </a:solidFill>
          <a:ln w="12700">
            <a:solidFill>
              <a:srgbClr val="00B4D8"/>
            </a:solidFill>
            <a:prstDash val="solid"/>
          </a:ln>
        </p:spPr>
      </p:sp>
      <p:sp>
        <p:nvSpPr>
          <p:cNvPr id="10" name="Text 5">
            <a:extLst>
              <a:ext uri="{FF2B5EF4-FFF2-40B4-BE49-F238E27FC236}">
                <a16:creationId xmlns:a16="http://schemas.microsoft.com/office/drawing/2014/main" id="{B0913983-CB41-F6C8-AC92-FADC2CD1C271}"/>
              </a:ext>
            </a:extLst>
          </p:cNvPr>
          <p:cNvSpPr/>
          <p:nvPr/>
        </p:nvSpPr>
        <p:spPr>
          <a:xfrm>
            <a:off x="1719639" y="2576446"/>
            <a:ext cx="3931920" cy="658368"/>
          </a:xfrm>
          <a:prstGeom prst="rect">
            <a:avLst/>
          </a:prstGeom>
          <a:noFill/>
          <a:ln/>
        </p:spPr>
        <p:txBody>
          <a:bodyPr wrap="square" lIns="0" tIns="0" rIns="0" bIns="0" rtlCol="0" anchor="ctr"/>
          <a:lstStyle/>
          <a:p>
            <a:pPr marL="0" indent="0" algn="ctr">
              <a:buNone/>
            </a:pPr>
            <a:r>
              <a:rPr lang="en-US" sz="1700" b="1" dirty="0">
                <a:solidFill>
                  <a:srgbClr val="00B4D8"/>
                </a:solidFill>
                <a:latin typeface="Consolas" pitchFamily="34" charset="0"/>
                <a:ea typeface="Consolas" pitchFamily="34" charset="-122"/>
                <a:cs typeface="Consolas" pitchFamily="34" charset="-120"/>
              </a:rPr>
              <a:t>M  =  ⌊ p  ×  NP ⌋</a:t>
            </a:r>
            <a:endParaRPr lang="en-US" sz="1700" dirty="0"/>
          </a:p>
        </p:txBody>
      </p:sp>
      <p:sp>
        <p:nvSpPr>
          <p:cNvPr id="11" name="Text 6">
            <a:extLst>
              <a:ext uri="{FF2B5EF4-FFF2-40B4-BE49-F238E27FC236}">
                <a16:creationId xmlns:a16="http://schemas.microsoft.com/office/drawing/2014/main" id="{B7780E0B-F042-FD78-37CD-03F7A60EFCC9}"/>
              </a:ext>
            </a:extLst>
          </p:cNvPr>
          <p:cNvSpPr/>
          <p:nvPr/>
        </p:nvSpPr>
        <p:spPr>
          <a:xfrm>
            <a:off x="5834439" y="2576446"/>
            <a:ext cx="4297680" cy="658368"/>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  =  archive fraction  ∈  (0, 1)</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NP = swarm size</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M  =  number of elite particles kept</a:t>
            </a:r>
            <a:endParaRPr lang="en-US" sz="1150" dirty="0"/>
          </a:p>
        </p:txBody>
      </p:sp>
      <p:sp>
        <p:nvSpPr>
          <p:cNvPr id="13" name="Text 8">
            <a:extLst>
              <a:ext uri="{FF2B5EF4-FFF2-40B4-BE49-F238E27FC236}">
                <a16:creationId xmlns:a16="http://schemas.microsoft.com/office/drawing/2014/main" id="{221823C2-8BA1-A668-80EB-8DEBDB4163D0}"/>
              </a:ext>
            </a:extLst>
          </p:cNvPr>
          <p:cNvSpPr/>
          <p:nvPr/>
        </p:nvSpPr>
        <p:spPr>
          <a:xfrm>
            <a:off x="1719639" y="3490846"/>
            <a:ext cx="411480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Elite Membership Condition:</a:t>
            </a:r>
            <a:endParaRPr lang="en-US" sz="1300" dirty="0"/>
          </a:p>
        </p:txBody>
      </p:sp>
      <p:sp>
        <p:nvSpPr>
          <p:cNvPr id="14" name="Shape 9">
            <a:extLst>
              <a:ext uri="{FF2B5EF4-FFF2-40B4-BE49-F238E27FC236}">
                <a16:creationId xmlns:a16="http://schemas.microsoft.com/office/drawing/2014/main" id="{65E78883-C22C-9FC0-2C4D-24ACA1E6D4B9}"/>
              </a:ext>
            </a:extLst>
          </p:cNvPr>
          <p:cNvSpPr/>
          <p:nvPr/>
        </p:nvSpPr>
        <p:spPr>
          <a:xfrm>
            <a:off x="1719639" y="3884038"/>
            <a:ext cx="8412480" cy="658368"/>
          </a:xfrm>
          <a:prstGeom prst="rect">
            <a:avLst/>
          </a:prstGeom>
          <a:solidFill>
            <a:srgbClr val="0D1B2A"/>
          </a:solidFill>
          <a:ln w="12700">
            <a:solidFill>
              <a:srgbClr val="00B4D8"/>
            </a:solidFill>
            <a:prstDash val="solid"/>
          </a:ln>
        </p:spPr>
      </p:sp>
      <p:sp>
        <p:nvSpPr>
          <p:cNvPr id="15" name="Text 10">
            <a:extLst>
              <a:ext uri="{FF2B5EF4-FFF2-40B4-BE49-F238E27FC236}">
                <a16:creationId xmlns:a16="http://schemas.microsoft.com/office/drawing/2014/main" id="{C7C3E7F9-E63C-DBA8-FBA1-95AB80060E93}"/>
              </a:ext>
            </a:extLst>
          </p:cNvPr>
          <p:cNvSpPr/>
          <p:nvPr/>
        </p:nvSpPr>
        <p:spPr>
          <a:xfrm>
            <a:off x="1719639" y="3884038"/>
            <a:ext cx="8412480" cy="658368"/>
          </a:xfrm>
          <a:prstGeom prst="rect">
            <a:avLst/>
          </a:prstGeom>
          <a:noFill/>
          <a:ln/>
        </p:spPr>
        <p:txBody>
          <a:bodyPr wrap="square" lIns="0" tIns="0" rIns="0" bIns="0" rtlCol="0" anchor="ctr"/>
          <a:lstStyle/>
          <a:p>
            <a:pPr marL="0" indent="0" algn="ctr">
              <a:buNone/>
            </a:pPr>
            <a:r>
              <a:rPr lang="en-US" sz="1500" b="1" dirty="0">
                <a:solidFill>
                  <a:srgbClr val="00B4D8"/>
                </a:solidFill>
                <a:latin typeface="Consolas" pitchFamily="34" charset="0"/>
                <a:ea typeface="Consolas" pitchFamily="34" charset="-122"/>
                <a:cs typeface="Consolas" pitchFamily="34" charset="-120"/>
              </a:rPr>
              <a:t>particle i  ∈  Archive   iff   f(xᵢ)  ≥  f_worst(M)</a:t>
            </a:r>
            <a:endParaRPr lang="en-US" sz="1500" dirty="0"/>
          </a:p>
        </p:txBody>
      </p:sp>
      <p:sp>
        <p:nvSpPr>
          <p:cNvPr id="16" name="Text 11">
            <a:extLst>
              <a:ext uri="{FF2B5EF4-FFF2-40B4-BE49-F238E27FC236}">
                <a16:creationId xmlns:a16="http://schemas.microsoft.com/office/drawing/2014/main" id="{74EBEA8A-A09C-34B7-782F-2AFC97EFB4EE}"/>
              </a:ext>
            </a:extLst>
          </p:cNvPr>
          <p:cNvSpPr/>
          <p:nvPr/>
        </p:nvSpPr>
        <p:spPr>
          <a:xfrm>
            <a:off x="1719639" y="4633846"/>
            <a:ext cx="8229600" cy="32004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f_worst(M)  =  fitness of the worst particle currently in the top-M archive</a:t>
            </a:r>
            <a:endParaRPr lang="en-US" sz="1200" dirty="0"/>
          </a:p>
        </p:txBody>
      </p:sp>
      <p:sp>
        <p:nvSpPr>
          <p:cNvPr id="17" name="Shape 12">
            <a:extLst>
              <a:ext uri="{FF2B5EF4-FFF2-40B4-BE49-F238E27FC236}">
                <a16:creationId xmlns:a16="http://schemas.microsoft.com/office/drawing/2014/main" id="{EA5FD3CB-B003-C7B4-7EE9-EBF7A39DABC0}"/>
              </a:ext>
            </a:extLst>
          </p:cNvPr>
          <p:cNvSpPr/>
          <p:nvPr/>
        </p:nvSpPr>
        <p:spPr>
          <a:xfrm>
            <a:off x="1719639" y="5045326"/>
            <a:ext cx="4023360" cy="685800"/>
          </a:xfrm>
          <a:prstGeom prst="rect">
            <a:avLst/>
          </a:prstGeom>
          <a:solidFill>
            <a:srgbClr val="06D6A0"/>
          </a:solidFill>
          <a:ln w="12700">
            <a:solidFill>
              <a:srgbClr val="06D6A0"/>
            </a:solidFill>
            <a:prstDash val="solid"/>
          </a:ln>
        </p:spPr>
      </p:sp>
      <p:sp>
        <p:nvSpPr>
          <p:cNvPr id="18" name="Text 13">
            <a:extLst>
              <a:ext uri="{FF2B5EF4-FFF2-40B4-BE49-F238E27FC236}">
                <a16:creationId xmlns:a16="http://schemas.microsoft.com/office/drawing/2014/main" id="{A36107EB-CA32-F61E-65DA-B56A50397179}"/>
              </a:ext>
            </a:extLst>
          </p:cNvPr>
          <p:cNvSpPr/>
          <p:nvPr/>
        </p:nvSpPr>
        <p:spPr>
          <a:xfrm>
            <a:off x="1719639" y="5045326"/>
            <a:ext cx="402336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Top-M  →  Elite Archive  (1</a:t>
            </a:r>
            <a:r>
              <a:rPr lang="en-US" sz="1200" b="1" baseline="30000" dirty="0">
                <a:solidFill>
                  <a:srgbClr val="FFFFFF"/>
                </a:solidFill>
                <a:latin typeface="Calibri" pitchFamily="34" charset="0"/>
                <a:ea typeface="Calibri" pitchFamily="34" charset="-122"/>
                <a:cs typeface="Calibri" pitchFamily="34" charset="-120"/>
              </a:rPr>
              <a:t>st</a:t>
            </a:r>
            <a:r>
              <a:rPr lang="en-US" sz="1200" b="1" dirty="0">
                <a:solidFill>
                  <a:srgbClr val="FFFFFF"/>
                </a:solidFill>
                <a:latin typeface="Calibri" pitchFamily="34" charset="0"/>
                <a:ea typeface="Calibri" pitchFamily="34" charset="-122"/>
                <a:cs typeface="Calibri" pitchFamily="34" charset="-120"/>
              </a:rPr>
              <a:t> case)</a:t>
            </a:r>
            <a:endParaRPr lang="en-US" sz="1200" dirty="0"/>
          </a:p>
        </p:txBody>
      </p:sp>
      <p:sp>
        <p:nvSpPr>
          <p:cNvPr id="19" name="Shape 14">
            <a:extLst>
              <a:ext uri="{FF2B5EF4-FFF2-40B4-BE49-F238E27FC236}">
                <a16:creationId xmlns:a16="http://schemas.microsoft.com/office/drawing/2014/main" id="{B7B25948-FAAF-0F47-72BC-A850FAA762A3}"/>
              </a:ext>
            </a:extLst>
          </p:cNvPr>
          <p:cNvSpPr/>
          <p:nvPr/>
        </p:nvSpPr>
        <p:spPr>
          <a:xfrm>
            <a:off x="6108759" y="5045326"/>
            <a:ext cx="4023360" cy="685800"/>
          </a:xfrm>
          <a:prstGeom prst="rect">
            <a:avLst/>
          </a:prstGeom>
          <a:solidFill>
            <a:srgbClr val="F4A261"/>
          </a:solidFill>
          <a:ln w="12700">
            <a:solidFill>
              <a:srgbClr val="F4A261"/>
            </a:solidFill>
            <a:prstDash val="solid"/>
          </a:ln>
        </p:spPr>
      </p:sp>
      <p:sp>
        <p:nvSpPr>
          <p:cNvPr id="20" name="Text 15">
            <a:extLst>
              <a:ext uri="{FF2B5EF4-FFF2-40B4-BE49-F238E27FC236}">
                <a16:creationId xmlns:a16="http://schemas.microsoft.com/office/drawing/2014/main" id="{65D95B10-155C-3398-2AE9-0780F3F1087A}"/>
              </a:ext>
            </a:extLst>
          </p:cNvPr>
          <p:cNvSpPr/>
          <p:nvPr/>
        </p:nvSpPr>
        <p:spPr>
          <a:xfrm>
            <a:off x="6108759" y="5045326"/>
            <a:ext cx="402336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Remaining (NP − M)  →  Normal Update  (2</a:t>
            </a:r>
            <a:r>
              <a:rPr lang="en-US" sz="1200" b="1" baseline="30000" dirty="0">
                <a:solidFill>
                  <a:srgbClr val="FFFFFF"/>
                </a:solidFill>
                <a:latin typeface="Calibri" pitchFamily="34" charset="0"/>
                <a:ea typeface="Calibri" pitchFamily="34" charset="-122"/>
                <a:cs typeface="Calibri" pitchFamily="34" charset="-120"/>
              </a:rPr>
              <a:t>nd</a:t>
            </a:r>
            <a:r>
              <a:rPr lang="en-US" sz="1200" b="1" dirty="0">
                <a:solidFill>
                  <a:srgbClr val="FFFFFF"/>
                </a:solidFill>
                <a:latin typeface="Calibri" pitchFamily="34" charset="0"/>
                <a:ea typeface="Calibri" pitchFamily="34" charset="-122"/>
                <a:cs typeface="Calibri" pitchFamily="34" charset="-120"/>
              </a:rPr>
              <a:t> case)</a:t>
            </a:r>
            <a:endParaRPr lang="en-US" sz="1200" dirty="0"/>
          </a:p>
        </p:txBody>
      </p:sp>
    </p:spTree>
    <p:extLst>
      <p:ext uri="{BB962C8B-B14F-4D97-AF65-F5344CB8AC3E}">
        <p14:creationId xmlns:p14="http://schemas.microsoft.com/office/powerpoint/2010/main" val="12146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2"/>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1922043" y="476176"/>
            <a:ext cx="7793319" cy="584775"/>
          </a:xfrm>
          <a:prstGeom prst="rect">
            <a:avLst/>
          </a:prstGeom>
          <a:noFill/>
        </p:spPr>
        <p:txBody>
          <a:bodyPr wrap="square" rtlCol="0">
            <a:spAutoFit/>
          </a:bodyPr>
          <a:lstStyle/>
          <a:p>
            <a:pPr algn="ctr"/>
            <a:r>
              <a:rPr lang="en-LK" sz="3200" b="1" dirty="0">
                <a:latin typeface="+mj-lt"/>
              </a:rPr>
              <a:t>Two Case Position Update Rule</a:t>
            </a:r>
          </a:p>
        </p:txBody>
      </p:sp>
      <p:sp>
        <p:nvSpPr>
          <p:cNvPr id="52" name="Text 2">
            <a:extLst>
              <a:ext uri="{FF2B5EF4-FFF2-40B4-BE49-F238E27FC236}">
                <a16:creationId xmlns:a16="http://schemas.microsoft.com/office/drawing/2014/main" id="{C394A0FF-426B-9B94-A2F9-D69A670B062A}"/>
              </a:ext>
            </a:extLst>
          </p:cNvPr>
          <p:cNvSpPr/>
          <p:nvPr/>
        </p:nvSpPr>
        <p:spPr>
          <a:xfrm>
            <a:off x="1868495" y="1342006"/>
            <a:ext cx="8229600" cy="3657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Each iteration, particles are split into two groups and updated differently:</a:t>
            </a:r>
            <a:endParaRPr lang="en-US" sz="1300" dirty="0"/>
          </a:p>
        </p:txBody>
      </p:sp>
      <p:sp>
        <p:nvSpPr>
          <p:cNvPr id="53" name="Shape 3">
            <a:extLst>
              <a:ext uri="{FF2B5EF4-FFF2-40B4-BE49-F238E27FC236}">
                <a16:creationId xmlns:a16="http://schemas.microsoft.com/office/drawing/2014/main" id="{99574225-BC22-8D64-F178-7425A95E1C64}"/>
              </a:ext>
            </a:extLst>
          </p:cNvPr>
          <p:cNvSpPr/>
          <p:nvPr/>
        </p:nvSpPr>
        <p:spPr>
          <a:xfrm>
            <a:off x="1777055" y="1753486"/>
            <a:ext cx="4160520" cy="3566160"/>
          </a:xfrm>
          <a:prstGeom prst="rect">
            <a:avLst/>
          </a:prstGeom>
          <a:solidFill>
            <a:srgbClr val="FFFFFF"/>
          </a:solidFill>
          <a:ln w="12700">
            <a:solidFill>
              <a:srgbClr val="06D6A0"/>
            </a:solidFill>
            <a:prstDash val="solid"/>
          </a:ln>
          <a:effectLst>
            <a:outerShdw blurRad="76200" dist="38100" dir="8100000" algn="bl" rotWithShape="0">
              <a:srgbClr val="000000">
                <a:alpha val="10000"/>
              </a:srgbClr>
            </a:outerShdw>
          </a:effectLst>
        </p:spPr>
      </p:sp>
      <p:sp>
        <p:nvSpPr>
          <p:cNvPr id="54" name="Shape 4">
            <a:extLst>
              <a:ext uri="{FF2B5EF4-FFF2-40B4-BE49-F238E27FC236}">
                <a16:creationId xmlns:a16="http://schemas.microsoft.com/office/drawing/2014/main" id="{471F0452-343D-10F6-0AC4-3A5763E53875}"/>
              </a:ext>
            </a:extLst>
          </p:cNvPr>
          <p:cNvSpPr/>
          <p:nvPr/>
        </p:nvSpPr>
        <p:spPr>
          <a:xfrm>
            <a:off x="1777055" y="1753486"/>
            <a:ext cx="4160520" cy="457200"/>
          </a:xfrm>
          <a:prstGeom prst="rect">
            <a:avLst/>
          </a:prstGeom>
          <a:solidFill>
            <a:srgbClr val="06D6A0"/>
          </a:solidFill>
          <a:ln w="12700">
            <a:solidFill>
              <a:srgbClr val="06D6A0"/>
            </a:solidFill>
            <a:prstDash val="solid"/>
          </a:ln>
        </p:spPr>
      </p:sp>
      <p:sp>
        <p:nvSpPr>
          <p:cNvPr id="55" name="Text 5">
            <a:extLst>
              <a:ext uri="{FF2B5EF4-FFF2-40B4-BE49-F238E27FC236}">
                <a16:creationId xmlns:a16="http://schemas.microsoft.com/office/drawing/2014/main" id="{A1CBC127-09BC-5508-13DC-62D78C902F2C}"/>
              </a:ext>
            </a:extLst>
          </p:cNvPr>
          <p:cNvSpPr/>
          <p:nvPr/>
        </p:nvSpPr>
        <p:spPr>
          <a:xfrm>
            <a:off x="1777055" y="1753486"/>
            <a:ext cx="4160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r>
              <a:rPr lang="en-US" sz="1300" b="1" baseline="30000" dirty="0">
                <a:solidFill>
                  <a:srgbClr val="FFFFFF"/>
                </a:solidFill>
                <a:latin typeface="Calibri" pitchFamily="34" charset="0"/>
                <a:ea typeface="Calibri" pitchFamily="34" charset="-122"/>
                <a:cs typeface="Calibri" pitchFamily="34" charset="-120"/>
              </a:rPr>
              <a:t>st</a:t>
            </a:r>
            <a:r>
              <a:rPr lang="en-US" sz="1300" b="1" dirty="0">
                <a:solidFill>
                  <a:srgbClr val="FFFFFF"/>
                </a:solidFill>
                <a:latin typeface="Calibri" pitchFamily="34" charset="0"/>
                <a:ea typeface="Calibri" pitchFamily="34" charset="-122"/>
                <a:cs typeface="Calibri" pitchFamily="34" charset="-120"/>
              </a:rPr>
              <a:t> Case  —  Elite Particles</a:t>
            </a:r>
            <a:endParaRPr lang="en-US" sz="1300" dirty="0"/>
          </a:p>
        </p:txBody>
      </p:sp>
      <p:sp>
        <p:nvSpPr>
          <p:cNvPr id="56" name="Text 6">
            <a:extLst>
              <a:ext uri="{FF2B5EF4-FFF2-40B4-BE49-F238E27FC236}">
                <a16:creationId xmlns:a16="http://schemas.microsoft.com/office/drawing/2014/main" id="{2978C141-2193-6E57-6105-3A7FCBDBF04C}"/>
              </a:ext>
            </a:extLst>
          </p:cNvPr>
          <p:cNvSpPr/>
          <p:nvPr/>
        </p:nvSpPr>
        <p:spPr>
          <a:xfrm>
            <a:off x="1959935" y="2320414"/>
            <a:ext cx="3657600" cy="274320"/>
          </a:xfrm>
          <a:prstGeom prst="rect">
            <a:avLst/>
          </a:prstGeom>
          <a:noFill/>
          <a:ln/>
        </p:spPr>
        <p:txBody>
          <a:bodyPr wrap="square"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Condition:</a:t>
            </a:r>
            <a:endParaRPr lang="en-US" sz="1100" dirty="0"/>
          </a:p>
        </p:txBody>
      </p:sp>
      <p:sp>
        <p:nvSpPr>
          <p:cNvPr id="57" name="Shape 7">
            <a:extLst>
              <a:ext uri="{FF2B5EF4-FFF2-40B4-BE49-F238E27FC236}">
                <a16:creationId xmlns:a16="http://schemas.microsoft.com/office/drawing/2014/main" id="{E8156636-E359-7402-EE6E-BC6515118E92}"/>
              </a:ext>
            </a:extLst>
          </p:cNvPr>
          <p:cNvSpPr/>
          <p:nvPr/>
        </p:nvSpPr>
        <p:spPr>
          <a:xfrm>
            <a:off x="1886783" y="2622166"/>
            <a:ext cx="3931920" cy="566928"/>
          </a:xfrm>
          <a:prstGeom prst="rect">
            <a:avLst/>
          </a:prstGeom>
          <a:solidFill>
            <a:srgbClr val="0D1B2A"/>
          </a:solidFill>
          <a:ln w="12700">
            <a:solidFill>
              <a:srgbClr val="00B4D8"/>
            </a:solidFill>
            <a:prstDash val="solid"/>
          </a:ln>
        </p:spPr>
      </p:sp>
      <p:sp>
        <p:nvSpPr>
          <p:cNvPr id="58" name="Text 8">
            <a:extLst>
              <a:ext uri="{FF2B5EF4-FFF2-40B4-BE49-F238E27FC236}">
                <a16:creationId xmlns:a16="http://schemas.microsoft.com/office/drawing/2014/main" id="{79FE912D-DD99-9C2A-E71C-1A060DC85AED}"/>
              </a:ext>
            </a:extLst>
          </p:cNvPr>
          <p:cNvSpPr/>
          <p:nvPr/>
        </p:nvSpPr>
        <p:spPr>
          <a:xfrm>
            <a:off x="1886783" y="2622166"/>
            <a:ext cx="3931920" cy="566928"/>
          </a:xfrm>
          <a:prstGeom prst="rect">
            <a:avLst/>
          </a:prstGeom>
          <a:noFill/>
          <a:ln/>
        </p:spPr>
        <p:txBody>
          <a:bodyPr wrap="square" lIns="0" tIns="0" rIns="0" bIns="0" rtlCol="0" anchor="ctr"/>
          <a:lstStyle/>
          <a:p>
            <a:pPr marL="0" indent="0" algn="ctr">
              <a:buNone/>
            </a:pPr>
            <a:r>
              <a:rPr lang="en-US" sz="1300" b="1" dirty="0">
                <a:solidFill>
                  <a:srgbClr val="00B4D8"/>
                </a:solidFill>
                <a:latin typeface="Consolas" pitchFamily="34" charset="0"/>
                <a:ea typeface="Consolas" pitchFamily="34" charset="-122"/>
                <a:cs typeface="Consolas" pitchFamily="34" charset="-120"/>
              </a:rPr>
              <a:t>f(xᵢ)  ≥  f_worst(M)</a:t>
            </a:r>
            <a:endParaRPr lang="en-US" sz="1300" dirty="0"/>
          </a:p>
        </p:txBody>
      </p:sp>
      <p:sp>
        <p:nvSpPr>
          <p:cNvPr id="59" name="Text 9">
            <a:extLst>
              <a:ext uri="{FF2B5EF4-FFF2-40B4-BE49-F238E27FC236}">
                <a16:creationId xmlns:a16="http://schemas.microsoft.com/office/drawing/2014/main" id="{4020733D-D69C-3159-65D1-1B852859C8C2}"/>
              </a:ext>
            </a:extLst>
          </p:cNvPr>
          <p:cNvSpPr/>
          <p:nvPr/>
        </p:nvSpPr>
        <p:spPr>
          <a:xfrm>
            <a:off x="1959935" y="3307966"/>
            <a:ext cx="3657600" cy="274320"/>
          </a:xfrm>
          <a:prstGeom prst="rect">
            <a:avLst/>
          </a:prstGeom>
          <a:noFill/>
          <a:ln/>
        </p:spPr>
        <p:txBody>
          <a:bodyPr wrap="square" rtlCol="0" anchor="ctr"/>
          <a:lstStyle/>
          <a:p>
            <a:pPr marL="0" indent="0">
              <a:buNone/>
            </a:pPr>
            <a:r>
              <a:rPr lang="en-US" sz="1100" b="1" dirty="0">
                <a:solidFill>
                  <a:srgbClr val="06D6A0"/>
                </a:solidFill>
                <a:latin typeface="Calibri" pitchFamily="34" charset="0"/>
                <a:ea typeface="Calibri" pitchFamily="34" charset="-122"/>
                <a:cs typeface="Calibri" pitchFamily="34" charset="-120"/>
              </a:rPr>
              <a:t>Action:</a:t>
            </a:r>
            <a:endParaRPr lang="en-US" sz="1100" dirty="0"/>
          </a:p>
        </p:txBody>
      </p:sp>
      <p:sp>
        <p:nvSpPr>
          <p:cNvPr id="60" name="Shape 10">
            <a:extLst>
              <a:ext uri="{FF2B5EF4-FFF2-40B4-BE49-F238E27FC236}">
                <a16:creationId xmlns:a16="http://schemas.microsoft.com/office/drawing/2014/main" id="{0B23F747-9DA3-8C31-76EB-9B03A2225E47}"/>
              </a:ext>
            </a:extLst>
          </p:cNvPr>
          <p:cNvSpPr/>
          <p:nvPr/>
        </p:nvSpPr>
        <p:spPr>
          <a:xfrm>
            <a:off x="1886783" y="3609718"/>
            <a:ext cx="3931920" cy="530352"/>
          </a:xfrm>
          <a:prstGeom prst="rect">
            <a:avLst/>
          </a:prstGeom>
          <a:solidFill>
            <a:srgbClr val="0D1B2A"/>
          </a:solidFill>
          <a:ln w="12700">
            <a:solidFill>
              <a:srgbClr val="00B4D8"/>
            </a:solidFill>
            <a:prstDash val="solid"/>
          </a:ln>
        </p:spPr>
      </p:sp>
      <p:sp>
        <p:nvSpPr>
          <p:cNvPr id="61" name="Text 11">
            <a:extLst>
              <a:ext uri="{FF2B5EF4-FFF2-40B4-BE49-F238E27FC236}">
                <a16:creationId xmlns:a16="http://schemas.microsoft.com/office/drawing/2014/main" id="{A9AB0B5B-E71E-82DE-561A-F29E8EA014C2}"/>
              </a:ext>
            </a:extLst>
          </p:cNvPr>
          <p:cNvSpPr/>
          <p:nvPr/>
        </p:nvSpPr>
        <p:spPr>
          <a:xfrm>
            <a:off x="1886783" y="3609718"/>
            <a:ext cx="3931920" cy="530352"/>
          </a:xfrm>
          <a:prstGeom prst="rect">
            <a:avLst/>
          </a:prstGeom>
          <a:noFill/>
          <a:ln/>
        </p:spPr>
        <p:txBody>
          <a:bodyPr wrap="square" lIns="0" tIns="0" rIns="0" bIns="0" rtlCol="0" anchor="ctr"/>
          <a:lstStyle/>
          <a:p>
            <a:pPr marL="0" indent="0" algn="ctr">
              <a:buNone/>
            </a:pPr>
            <a:r>
              <a:rPr lang="en-US" sz="1300" b="1" dirty="0">
                <a:solidFill>
                  <a:srgbClr val="00B4D8"/>
                </a:solidFill>
                <a:latin typeface="Consolas" pitchFamily="34" charset="0"/>
                <a:ea typeface="Consolas" pitchFamily="34" charset="-122"/>
                <a:cs typeface="Consolas" pitchFamily="34" charset="-120"/>
              </a:rPr>
              <a:t>xᵢ  →  NO UPDATE</a:t>
            </a:r>
            <a:endParaRPr lang="en-US" sz="1300" dirty="0"/>
          </a:p>
        </p:txBody>
      </p:sp>
      <p:sp>
        <p:nvSpPr>
          <p:cNvPr id="62" name="Text 12">
            <a:extLst>
              <a:ext uri="{FF2B5EF4-FFF2-40B4-BE49-F238E27FC236}">
                <a16:creationId xmlns:a16="http://schemas.microsoft.com/office/drawing/2014/main" id="{56CF5105-9A25-9B2F-3843-46E0BB3AC36D}"/>
              </a:ext>
            </a:extLst>
          </p:cNvPr>
          <p:cNvSpPr/>
          <p:nvPr/>
        </p:nvSpPr>
        <p:spPr>
          <a:xfrm>
            <a:off x="1914215" y="4222366"/>
            <a:ext cx="3840480" cy="10058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Particle is already in the elite archive. Its position is preserved — it does NOT update velocity or position this iteration. This protects good solutions from being overwritten.</a:t>
            </a:r>
            <a:endParaRPr lang="en-US" sz="1100" dirty="0"/>
          </a:p>
        </p:txBody>
      </p:sp>
      <p:sp>
        <p:nvSpPr>
          <p:cNvPr id="63" name="Shape 13">
            <a:extLst>
              <a:ext uri="{FF2B5EF4-FFF2-40B4-BE49-F238E27FC236}">
                <a16:creationId xmlns:a16="http://schemas.microsoft.com/office/drawing/2014/main" id="{D37AF163-9BDD-5133-576F-94CF94F71206}"/>
              </a:ext>
            </a:extLst>
          </p:cNvPr>
          <p:cNvSpPr/>
          <p:nvPr/>
        </p:nvSpPr>
        <p:spPr>
          <a:xfrm>
            <a:off x="6211895" y="1753486"/>
            <a:ext cx="4160520" cy="3566160"/>
          </a:xfrm>
          <a:prstGeom prst="rect">
            <a:avLst/>
          </a:prstGeom>
          <a:solidFill>
            <a:srgbClr val="FFFFFF"/>
          </a:solidFill>
          <a:ln w="12700">
            <a:solidFill>
              <a:srgbClr val="3A86FF"/>
            </a:solidFill>
            <a:prstDash val="solid"/>
          </a:ln>
          <a:effectLst>
            <a:outerShdw blurRad="76200" dist="38100" dir="8100000" algn="bl" rotWithShape="0">
              <a:srgbClr val="000000">
                <a:alpha val="10000"/>
              </a:srgbClr>
            </a:outerShdw>
          </a:effectLst>
        </p:spPr>
      </p:sp>
      <p:sp>
        <p:nvSpPr>
          <p:cNvPr id="64" name="Shape 14">
            <a:extLst>
              <a:ext uri="{FF2B5EF4-FFF2-40B4-BE49-F238E27FC236}">
                <a16:creationId xmlns:a16="http://schemas.microsoft.com/office/drawing/2014/main" id="{F44AC4B0-A742-9BA6-09F4-B2DACAE8BE37}"/>
              </a:ext>
            </a:extLst>
          </p:cNvPr>
          <p:cNvSpPr/>
          <p:nvPr/>
        </p:nvSpPr>
        <p:spPr>
          <a:xfrm>
            <a:off x="6211895" y="1753486"/>
            <a:ext cx="4160520" cy="457200"/>
          </a:xfrm>
          <a:prstGeom prst="rect">
            <a:avLst/>
          </a:prstGeom>
          <a:solidFill>
            <a:srgbClr val="3A86FF"/>
          </a:solidFill>
          <a:ln w="12700">
            <a:solidFill>
              <a:srgbClr val="3A86FF"/>
            </a:solidFill>
            <a:prstDash val="solid"/>
          </a:ln>
        </p:spPr>
      </p:sp>
      <p:sp>
        <p:nvSpPr>
          <p:cNvPr id="65" name="Text 15">
            <a:extLst>
              <a:ext uri="{FF2B5EF4-FFF2-40B4-BE49-F238E27FC236}">
                <a16:creationId xmlns:a16="http://schemas.microsoft.com/office/drawing/2014/main" id="{94755696-5428-F211-3FF9-C7A5D2D44D90}"/>
              </a:ext>
            </a:extLst>
          </p:cNvPr>
          <p:cNvSpPr/>
          <p:nvPr/>
        </p:nvSpPr>
        <p:spPr>
          <a:xfrm>
            <a:off x="6211895" y="1753486"/>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r>
              <a:rPr lang="en-US" sz="1200" b="1" baseline="30000" dirty="0">
                <a:solidFill>
                  <a:srgbClr val="FFFFFF"/>
                </a:solidFill>
                <a:latin typeface="Calibri" pitchFamily="34" charset="0"/>
                <a:ea typeface="Calibri" pitchFamily="34" charset="-122"/>
                <a:cs typeface="Calibri" pitchFamily="34" charset="-120"/>
              </a:rPr>
              <a:t>nd</a:t>
            </a:r>
            <a:r>
              <a:rPr lang="en-US" sz="1200" b="1" dirty="0">
                <a:solidFill>
                  <a:srgbClr val="FFFFFF"/>
                </a:solidFill>
                <a:latin typeface="Calibri" pitchFamily="34" charset="0"/>
                <a:ea typeface="Calibri" pitchFamily="34" charset="-122"/>
                <a:cs typeface="Calibri" pitchFamily="34" charset="-120"/>
              </a:rPr>
              <a:t> Case  —  Non-Elite Particles  (NP − M)</a:t>
            </a:r>
            <a:endParaRPr lang="en-US" sz="1200" dirty="0"/>
          </a:p>
        </p:txBody>
      </p:sp>
      <p:sp>
        <p:nvSpPr>
          <p:cNvPr id="66" name="Text 16">
            <a:extLst>
              <a:ext uri="{FF2B5EF4-FFF2-40B4-BE49-F238E27FC236}">
                <a16:creationId xmlns:a16="http://schemas.microsoft.com/office/drawing/2014/main" id="{B4266819-D0B2-8372-37FD-8C97D58279E9}"/>
              </a:ext>
            </a:extLst>
          </p:cNvPr>
          <p:cNvSpPr/>
          <p:nvPr/>
        </p:nvSpPr>
        <p:spPr>
          <a:xfrm>
            <a:off x="6349055" y="2320414"/>
            <a:ext cx="3840480" cy="274320"/>
          </a:xfrm>
          <a:prstGeom prst="rect">
            <a:avLst/>
          </a:prstGeom>
          <a:noFill/>
          <a:ln/>
        </p:spPr>
        <p:txBody>
          <a:bodyPr wrap="square" rtlCol="0" anchor="ctr"/>
          <a:lstStyle/>
          <a:p>
            <a:pPr marL="0" indent="0">
              <a:buNone/>
            </a:pPr>
            <a:r>
              <a:rPr lang="en-US" sz="1100" b="1" dirty="0">
                <a:solidFill>
                  <a:srgbClr val="3A86FF"/>
                </a:solidFill>
                <a:latin typeface="Calibri" pitchFamily="34" charset="0"/>
                <a:ea typeface="Calibri" pitchFamily="34" charset="-122"/>
                <a:cs typeface="Calibri" pitchFamily="34" charset="-120"/>
              </a:rPr>
              <a:t>Condition:</a:t>
            </a:r>
            <a:endParaRPr lang="en-US" sz="1100" dirty="0"/>
          </a:p>
        </p:txBody>
      </p:sp>
      <p:sp>
        <p:nvSpPr>
          <p:cNvPr id="67" name="Shape 17">
            <a:extLst>
              <a:ext uri="{FF2B5EF4-FFF2-40B4-BE49-F238E27FC236}">
                <a16:creationId xmlns:a16="http://schemas.microsoft.com/office/drawing/2014/main" id="{AABA6B2C-A521-7DD7-71FB-B112D32ABE46}"/>
              </a:ext>
            </a:extLst>
          </p:cNvPr>
          <p:cNvSpPr/>
          <p:nvPr/>
        </p:nvSpPr>
        <p:spPr>
          <a:xfrm>
            <a:off x="6321623" y="2622166"/>
            <a:ext cx="3931920" cy="566928"/>
          </a:xfrm>
          <a:prstGeom prst="rect">
            <a:avLst/>
          </a:prstGeom>
          <a:solidFill>
            <a:srgbClr val="0D1B2A"/>
          </a:solidFill>
          <a:ln w="12700">
            <a:solidFill>
              <a:srgbClr val="00B4D8"/>
            </a:solidFill>
            <a:prstDash val="solid"/>
          </a:ln>
        </p:spPr>
      </p:sp>
      <p:sp>
        <p:nvSpPr>
          <p:cNvPr id="68" name="Text 18">
            <a:extLst>
              <a:ext uri="{FF2B5EF4-FFF2-40B4-BE49-F238E27FC236}">
                <a16:creationId xmlns:a16="http://schemas.microsoft.com/office/drawing/2014/main" id="{E551A290-D591-6A92-11FB-DC3AFDA242DF}"/>
              </a:ext>
            </a:extLst>
          </p:cNvPr>
          <p:cNvSpPr/>
          <p:nvPr/>
        </p:nvSpPr>
        <p:spPr>
          <a:xfrm>
            <a:off x="6321623" y="2622166"/>
            <a:ext cx="3931920" cy="566928"/>
          </a:xfrm>
          <a:prstGeom prst="rect">
            <a:avLst/>
          </a:prstGeom>
          <a:noFill/>
          <a:ln/>
        </p:spPr>
        <p:txBody>
          <a:bodyPr wrap="square" lIns="0" tIns="0" rIns="0" bIns="0" rtlCol="0" anchor="ctr"/>
          <a:lstStyle/>
          <a:p>
            <a:pPr marL="0" indent="0" algn="ctr">
              <a:buNone/>
            </a:pPr>
            <a:r>
              <a:rPr lang="en-US" sz="1300" b="1" dirty="0">
                <a:solidFill>
                  <a:srgbClr val="00B4D8"/>
                </a:solidFill>
                <a:latin typeface="Consolas" pitchFamily="34" charset="0"/>
                <a:ea typeface="Consolas" pitchFamily="34" charset="-122"/>
                <a:cs typeface="Consolas" pitchFamily="34" charset="-120"/>
              </a:rPr>
              <a:t>f(xᵢ)  &lt;  f_worst(M)</a:t>
            </a:r>
            <a:endParaRPr lang="en-US" sz="1300" dirty="0"/>
          </a:p>
        </p:txBody>
      </p:sp>
      <p:sp>
        <p:nvSpPr>
          <p:cNvPr id="69" name="Text 19">
            <a:extLst>
              <a:ext uri="{FF2B5EF4-FFF2-40B4-BE49-F238E27FC236}">
                <a16:creationId xmlns:a16="http://schemas.microsoft.com/office/drawing/2014/main" id="{7A84A6FE-FED4-6175-62C1-3D5B33D17F67}"/>
              </a:ext>
            </a:extLst>
          </p:cNvPr>
          <p:cNvSpPr/>
          <p:nvPr/>
        </p:nvSpPr>
        <p:spPr>
          <a:xfrm>
            <a:off x="6349055" y="3307966"/>
            <a:ext cx="3840480" cy="274320"/>
          </a:xfrm>
          <a:prstGeom prst="rect">
            <a:avLst/>
          </a:prstGeom>
          <a:noFill/>
          <a:ln/>
        </p:spPr>
        <p:txBody>
          <a:bodyPr wrap="square" rtlCol="0" anchor="ctr"/>
          <a:lstStyle/>
          <a:p>
            <a:pPr marL="0" indent="0">
              <a:buNone/>
            </a:pPr>
            <a:r>
              <a:rPr lang="en-US" sz="1100" b="1" dirty="0">
                <a:solidFill>
                  <a:srgbClr val="3A86FF"/>
                </a:solidFill>
                <a:latin typeface="Calibri" pitchFamily="34" charset="0"/>
                <a:ea typeface="Calibri" pitchFamily="34" charset="-122"/>
                <a:cs typeface="Calibri" pitchFamily="34" charset="-120"/>
              </a:rPr>
              <a:t>Action  (φ-blended update):</a:t>
            </a:r>
            <a:endParaRPr lang="en-US" sz="1100" dirty="0"/>
          </a:p>
        </p:txBody>
      </p:sp>
      <p:sp>
        <p:nvSpPr>
          <p:cNvPr id="70" name="Shape 20">
            <a:extLst>
              <a:ext uri="{FF2B5EF4-FFF2-40B4-BE49-F238E27FC236}">
                <a16:creationId xmlns:a16="http://schemas.microsoft.com/office/drawing/2014/main" id="{3EB02AA6-4BAF-9299-713D-72039F063D50}"/>
              </a:ext>
            </a:extLst>
          </p:cNvPr>
          <p:cNvSpPr/>
          <p:nvPr/>
        </p:nvSpPr>
        <p:spPr>
          <a:xfrm>
            <a:off x="6321623" y="3609718"/>
            <a:ext cx="3931920" cy="658368"/>
          </a:xfrm>
          <a:prstGeom prst="rect">
            <a:avLst/>
          </a:prstGeom>
          <a:solidFill>
            <a:srgbClr val="0D1B2A"/>
          </a:solidFill>
          <a:ln w="12700">
            <a:solidFill>
              <a:srgbClr val="00B4D8"/>
            </a:solidFill>
            <a:prstDash val="solid"/>
          </a:ln>
        </p:spPr>
      </p:sp>
      <p:sp>
        <p:nvSpPr>
          <p:cNvPr id="71" name="Text 21">
            <a:extLst>
              <a:ext uri="{FF2B5EF4-FFF2-40B4-BE49-F238E27FC236}">
                <a16:creationId xmlns:a16="http://schemas.microsoft.com/office/drawing/2014/main" id="{5E2B7380-4484-2D3D-736D-5D91B34018BE}"/>
              </a:ext>
            </a:extLst>
          </p:cNvPr>
          <p:cNvSpPr/>
          <p:nvPr/>
        </p:nvSpPr>
        <p:spPr>
          <a:xfrm>
            <a:off x="6321623" y="3609718"/>
            <a:ext cx="3931920" cy="658368"/>
          </a:xfrm>
          <a:prstGeom prst="rect">
            <a:avLst/>
          </a:prstGeom>
          <a:noFill/>
          <a:ln/>
        </p:spPr>
        <p:txBody>
          <a:bodyPr wrap="square" lIns="0" tIns="0" rIns="0" bIns="0" rtlCol="0" anchor="ctr"/>
          <a:lstStyle/>
          <a:p>
            <a:pPr marL="0" indent="0" algn="ctr">
              <a:buNone/>
            </a:pPr>
            <a:r>
              <a:rPr lang="en-US" sz="1100" b="1" dirty="0">
                <a:solidFill>
                  <a:srgbClr val="00B4D8"/>
                </a:solidFill>
                <a:latin typeface="Consolas" pitchFamily="34" charset="0"/>
                <a:ea typeface="Consolas" pitchFamily="34" charset="-122"/>
                <a:cs typeface="Consolas" pitchFamily="34" charset="-120"/>
              </a:rPr>
              <a:t>vᵢ  =  ω·vᵢ + c₁r₁(pbest_i−xᵢ)</a:t>
            </a:r>
            <a:endParaRPr lang="en-US" sz="1100" dirty="0"/>
          </a:p>
          <a:p>
            <a:pPr marL="0" indent="0" algn="ctr">
              <a:buNone/>
            </a:pPr>
            <a:r>
              <a:rPr lang="en-US" sz="1100" b="1" dirty="0">
                <a:solidFill>
                  <a:srgbClr val="00B4D8"/>
                </a:solidFill>
                <a:latin typeface="Consolas" pitchFamily="34" charset="0"/>
                <a:ea typeface="Consolas" pitchFamily="34" charset="-122"/>
                <a:cs typeface="Consolas" pitchFamily="34" charset="-120"/>
              </a:rPr>
              <a:t>       +  c₂r₂(Exp₂−xᵢ)</a:t>
            </a:r>
            <a:endParaRPr lang="en-US" sz="1100" dirty="0"/>
          </a:p>
        </p:txBody>
      </p:sp>
      <p:sp>
        <p:nvSpPr>
          <p:cNvPr id="72" name="Text 22">
            <a:extLst>
              <a:ext uri="{FF2B5EF4-FFF2-40B4-BE49-F238E27FC236}">
                <a16:creationId xmlns:a16="http://schemas.microsoft.com/office/drawing/2014/main" id="{FB2A751B-5B35-8A43-9EF7-9CF3B68C4E29}"/>
              </a:ext>
            </a:extLst>
          </p:cNvPr>
          <p:cNvSpPr/>
          <p:nvPr/>
        </p:nvSpPr>
        <p:spPr>
          <a:xfrm>
            <a:off x="6349055" y="4350382"/>
            <a:ext cx="3840480" cy="914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These particles apply the standard velocity update with φ ∈ [0,1] controlling the blending. They are guided toward the archive (Exp₂) instead of a single gbest.</a:t>
            </a:r>
            <a:endParaRPr lang="en-US" sz="1100" dirty="0"/>
          </a:p>
        </p:txBody>
      </p:sp>
    </p:spTree>
    <p:extLst>
      <p:ext uri="{BB962C8B-B14F-4D97-AF65-F5344CB8AC3E}">
        <p14:creationId xmlns:p14="http://schemas.microsoft.com/office/powerpoint/2010/main" val="3355175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3"/>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2189444" y="636827"/>
            <a:ext cx="7813111" cy="584775"/>
          </a:xfrm>
          <a:prstGeom prst="rect">
            <a:avLst/>
          </a:prstGeom>
          <a:noFill/>
        </p:spPr>
        <p:txBody>
          <a:bodyPr wrap="square" rtlCol="0">
            <a:spAutoFit/>
          </a:bodyPr>
          <a:lstStyle/>
          <a:p>
            <a:pPr algn="ctr"/>
            <a:r>
              <a:rPr lang="en-LK" sz="3200" b="1" dirty="0">
                <a:latin typeface="+mj-lt"/>
              </a:rPr>
              <a:t>The </a:t>
            </a:r>
            <a:r>
              <a:rPr lang="en-US" sz="3200" dirty="0" err="1">
                <a:latin typeface="Calibri" pitchFamily="34" charset="0"/>
                <a:ea typeface="Calibri" pitchFamily="34" charset="-122"/>
                <a:cs typeface="Calibri" pitchFamily="34" charset="-120"/>
              </a:rPr>
              <a:t>φ</a:t>
            </a:r>
            <a:r>
              <a:rPr lang="en-US" sz="3200" dirty="0">
                <a:latin typeface="Calibri" pitchFamily="34" charset="0"/>
                <a:ea typeface="Calibri" pitchFamily="34" charset="-122"/>
                <a:cs typeface="Calibri" pitchFamily="34" charset="-120"/>
              </a:rPr>
              <a:t> Parameter and Guidance Terms</a:t>
            </a:r>
            <a:endParaRPr lang="en-LK" sz="3200" dirty="0">
              <a:latin typeface="+mj-lt"/>
            </a:endParaRPr>
          </a:p>
        </p:txBody>
      </p:sp>
      <p:sp>
        <p:nvSpPr>
          <p:cNvPr id="6" name="Text 2">
            <a:extLst>
              <a:ext uri="{FF2B5EF4-FFF2-40B4-BE49-F238E27FC236}">
                <a16:creationId xmlns:a16="http://schemas.microsoft.com/office/drawing/2014/main" id="{63FA9933-7E17-7F24-D964-20C7B409BA9F}"/>
              </a:ext>
            </a:extLst>
          </p:cNvPr>
          <p:cNvSpPr/>
          <p:nvPr/>
        </p:nvSpPr>
        <p:spPr>
          <a:xfrm>
            <a:off x="1755081" y="1481985"/>
            <a:ext cx="8412480" cy="566928"/>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The notes annotate two different guidance sources (Exp₁ and Exp₂) circled in red/green, with the note 'better' pointing from Exp₁ to Exp₂. This means the algorithm tests different guidance strategies:</a:t>
            </a:r>
            <a:endParaRPr lang="en-US" sz="1250" dirty="0"/>
          </a:p>
        </p:txBody>
      </p:sp>
      <p:sp>
        <p:nvSpPr>
          <p:cNvPr id="8" name="Shape 3">
            <a:extLst>
              <a:ext uri="{FF2B5EF4-FFF2-40B4-BE49-F238E27FC236}">
                <a16:creationId xmlns:a16="http://schemas.microsoft.com/office/drawing/2014/main" id="{B8975D6D-9D43-0D24-26A7-EB6AC908853D}"/>
              </a:ext>
            </a:extLst>
          </p:cNvPr>
          <p:cNvSpPr/>
          <p:nvPr/>
        </p:nvSpPr>
        <p:spPr>
          <a:xfrm>
            <a:off x="1709361" y="2122065"/>
            <a:ext cx="4069080" cy="1417320"/>
          </a:xfrm>
          <a:prstGeom prst="rect">
            <a:avLst/>
          </a:prstGeom>
          <a:solidFill>
            <a:srgbClr val="FFFFFF"/>
          </a:solidFill>
          <a:ln w="12700">
            <a:solidFill>
              <a:srgbClr val="F4A261"/>
            </a:solidFill>
            <a:prstDash val="solid"/>
          </a:ln>
          <a:effectLst>
            <a:outerShdw blurRad="50800" dist="25400" dir="8100000" algn="bl" rotWithShape="0">
              <a:srgbClr val="000000">
                <a:alpha val="10000"/>
              </a:srgbClr>
            </a:outerShdw>
          </a:effectLst>
        </p:spPr>
      </p:sp>
      <p:sp>
        <p:nvSpPr>
          <p:cNvPr id="9" name="Shape 4">
            <a:extLst>
              <a:ext uri="{FF2B5EF4-FFF2-40B4-BE49-F238E27FC236}">
                <a16:creationId xmlns:a16="http://schemas.microsoft.com/office/drawing/2014/main" id="{0A703294-12F6-8845-9D42-106C18A7B3BC}"/>
              </a:ext>
            </a:extLst>
          </p:cNvPr>
          <p:cNvSpPr/>
          <p:nvPr/>
        </p:nvSpPr>
        <p:spPr>
          <a:xfrm>
            <a:off x="1709361" y="2122065"/>
            <a:ext cx="4069080" cy="384048"/>
          </a:xfrm>
          <a:prstGeom prst="rect">
            <a:avLst/>
          </a:prstGeom>
          <a:solidFill>
            <a:srgbClr val="F4A261"/>
          </a:solidFill>
          <a:ln w="12700">
            <a:solidFill>
              <a:srgbClr val="F4A261"/>
            </a:solidFill>
            <a:prstDash val="solid"/>
          </a:ln>
        </p:spPr>
      </p:sp>
      <p:sp>
        <p:nvSpPr>
          <p:cNvPr id="11" name="Text 5">
            <a:extLst>
              <a:ext uri="{FF2B5EF4-FFF2-40B4-BE49-F238E27FC236}">
                <a16:creationId xmlns:a16="http://schemas.microsoft.com/office/drawing/2014/main" id="{9CE4960A-F783-4A44-7D60-6E7A7B21CC8F}"/>
              </a:ext>
            </a:extLst>
          </p:cNvPr>
          <p:cNvSpPr/>
          <p:nvPr/>
        </p:nvSpPr>
        <p:spPr>
          <a:xfrm>
            <a:off x="1709361" y="2122065"/>
            <a:ext cx="40690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Exp₁  —  Personal Best Direction</a:t>
            </a:r>
            <a:endParaRPr lang="en-US" sz="1200" dirty="0"/>
          </a:p>
        </p:txBody>
      </p:sp>
      <p:sp>
        <p:nvSpPr>
          <p:cNvPr id="12" name="Text 6">
            <a:extLst>
              <a:ext uri="{FF2B5EF4-FFF2-40B4-BE49-F238E27FC236}">
                <a16:creationId xmlns:a16="http://schemas.microsoft.com/office/drawing/2014/main" id="{388E1B3B-FF1A-F294-76A6-D0CE8752F4F8}"/>
              </a:ext>
            </a:extLst>
          </p:cNvPr>
          <p:cNvSpPr/>
          <p:nvPr/>
        </p:nvSpPr>
        <p:spPr>
          <a:xfrm>
            <a:off x="1846521" y="2588409"/>
            <a:ext cx="3749040" cy="86868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Uses the particle's own pbest_i as guidance.</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Annotated in notes as the weaker guidance source.</a:t>
            </a:r>
            <a:endParaRPr lang="en-US" sz="1200" dirty="0"/>
          </a:p>
        </p:txBody>
      </p:sp>
      <p:sp>
        <p:nvSpPr>
          <p:cNvPr id="13" name="Shape 7">
            <a:extLst>
              <a:ext uri="{FF2B5EF4-FFF2-40B4-BE49-F238E27FC236}">
                <a16:creationId xmlns:a16="http://schemas.microsoft.com/office/drawing/2014/main" id="{E8EE9BB3-B684-3F02-1D5E-744E6F188D78}"/>
              </a:ext>
            </a:extLst>
          </p:cNvPr>
          <p:cNvSpPr/>
          <p:nvPr/>
        </p:nvSpPr>
        <p:spPr>
          <a:xfrm>
            <a:off x="6144201" y="2122065"/>
            <a:ext cx="4069080" cy="1417320"/>
          </a:xfrm>
          <a:prstGeom prst="rect">
            <a:avLst/>
          </a:prstGeom>
          <a:solidFill>
            <a:srgbClr val="FFFFFF"/>
          </a:solidFill>
          <a:ln w="12700">
            <a:solidFill>
              <a:srgbClr val="06D6A0"/>
            </a:solidFill>
            <a:prstDash val="solid"/>
          </a:ln>
          <a:effectLst>
            <a:outerShdw blurRad="50800" dist="25400" dir="8100000" algn="bl" rotWithShape="0">
              <a:srgbClr val="000000">
                <a:alpha val="10000"/>
              </a:srgbClr>
            </a:outerShdw>
          </a:effectLst>
        </p:spPr>
      </p:sp>
      <p:sp>
        <p:nvSpPr>
          <p:cNvPr id="14" name="Shape 8">
            <a:extLst>
              <a:ext uri="{FF2B5EF4-FFF2-40B4-BE49-F238E27FC236}">
                <a16:creationId xmlns:a16="http://schemas.microsoft.com/office/drawing/2014/main" id="{B3C2E6ED-C31B-0D33-ADDB-0FF542DB6550}"/>
              </a:ext>
            </a:extLst>
          </p:cNvPr>
          <p:cNvSpPr/>
          <p:nvPr/>
        </p:nvSpPr>
        <p:spPr>
          <a:xfrm>
            <a:off x="6144201" y="2122065"/>
            <a:ext cx="4069080" cy="384048"/>
          </a:xfrm>
          <a:prstGeom prst="rect">
            <a:avLst/>
          </a:prstGeom>
          <a:solidFill>
            <a:srgbClr val="06D6A0"/>
          </a:solidFill>
          <a:ln w="12700">
            <a:solidFill>
              <a:srgbClr val="06D6A0"/>
            </a:solidFill>
            <a:prstDash val="solid"/>
          </a:ln>
        </p:spPr>
      </p:sp>
      <p:sp>
        <p:nvSpPr>
          <p:cNvPr id="15" name="Text 9">
            <a:extLst>
              <a:ext uri="{FF2B5EF4-FFF2-40B4-BE49-F238E27FC236}">
                <a16:creationId xmlns:a16="http://schemas.microsoft.com/office/drawing/2014/main" id="{112DA866-3D8A-B2F1-AF83-FA35294330D2}"/>
              </a:ext>
            </a:extLst>
          </p:cNvPr>
          <p:cNvSpPr/>
          <p:nvPr/>
        </p:nvSpPr>
        <p:spPr>
          <a:xfrm>
            <a:off x="6144201" y="2122065"/>
            <a:ext cx="40690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Exp₂  —  Archive (Social) Direction  ← 'better'</a:t>
            </a:r>
            <a:endParaRPr lang="en-US" sz="1150" dirty="0"/>
          </a:p>
        </p:txBody>
      </p:sp>
      <p:sp>
        <p:nvSpPr>
          <p:cNvPr id="16" name="Text 10">
            <a:extLst>
              <a:ext uri="{FF2B5EF4-FFF2-40B4-BE49-F238E27FC236}">
                <a16:creationId xmlns:a16="http://schemas.microsoft.com/office/drawing/2014/main" id="{B974771F-67DF-387B-A414-F90345D6BA15}"/>
              </a:ext>
            </a:extLst>
          </p:cNvPr>
          <p:cNvSpPr/>
          <p:nvPr/>
        </p:nvSpPr>
        <p:spPr>
          <a:xfrm>
            <a:off x="6281361" y="2588409"/>
            <a:ext cx="3749040" cy="86868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Uses a randomly selected elite particle from the Top-M archive. Noted as the superior guidance source in the notes.</a:t>
            </a:r>
            <a:endParaRPr lang="en-US" sz="1200" dirty="0"/>
          </a:p>
        </p:txBody>
      </p:sp>
      <p:sp>
        <p:nvSpPr>
          <p:cNvPr id="18" name="Text 12">
            <a:extLst>
              <a:ext uri="{FF2B5EF4-FFF2-40B4-BE49-F238E27FC236}">
                <a16:creationId xmlns:a16="http://schemas.microsoft.com/office/drawing/2014/main" id="{5B192F68-A328-2EBD-6CA0-8CAFAE449036}"/>
              </a:ext>
            </a:extLst>
          </p:cNvPr>
          <p:cNvSpPr/>
          <p:nvPr/>
        </p:nvSpPr>
        <p:spPr>
          <a:xfrm>
            <a:off x="1755081" y="3795417"/>
            <a:ext cx="3657600" cy="347472"/>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The φ Blending Parameter:</a:t>
            </a:r>
            <a:endParaRPr lang="en-US" sz="1300" dirty="0"/>
          </a:p>
        </p:txBody>
      </p:sp>
      <p:sp>
        <p:nvSpPr>
          <p:cNvPr id="19" name="Shape 13">
            <a:extLst>
              <a:ext uri="{FF2B5EF4-FFF2-40B4-BE49-F238E27FC236}">
                <a16:creationId xmlns:a16="http://schemas.microsoft.com/office/drawing/2014/main" id="{50A286A8-904F-2F45-C209-19F8454FDD83}"/>
              </a:ext>
            </a:extLst>
          </p:cNvPr>
          <p:cNvSpPr/>
          <p:nvPr/>
        </p:nvSpPr>
        <p:spPr>
          <a:xfrm>
            <a:off x="1755081" y="4197753"/>
            <a:ext cx="8412480" cy="594360"/>
          </a:xfrm>
          <a:prstGeom prst="rect">
            <a:avLst/>
          </a:prstGeom>
          <a:solidFill>
            <a:srgbClr val="0D1B2A"/>
          </a:solidFill>
          <a:ln w="12700">
            <a:solidFill>
              <a:srgbClr val="00B4D8"/>
            </a:solidFill>
            <a:prstDash val="solid"/>
          </a:ln>
        </p:spPr>
      </p:sp>
      <p:sp>
        <p:nvSpPr>
          <p:cNvPr id="20" name="Text 14">
            <a:extLst>
              <a:ext uri="{FF2B5EF4-FFF2-40B4-BE49-F238E27FC236}">
                <a16:creationId xmlns:a16="http://schemas.microsoft.com/office/drawing/2014/main" id="{C046B325-5354-FEFC-5507-FCE34E519DFA}"/>
              </a:ext>
            </a:extLst>
          </p:cNvPr>
          <p:cNvSpPr/>
          <p:nvPr/>
        </p:nvSpPr>
        <p:spPr>
          <a:xfrm>
            <a:off x="1755081" y="4197753"/>
            <a:ext cx="8412480" cy="594360"/>
          </a:xfrm>
          <a:prstGeom prst="rect">
            <a:avLst/>
          </a:prstGeom>
          <a:noFill/>
          <a:ln/>
        </p:spPr>
        <p:txBody>
          <a:bodyPr wrap="square" lIns="0" tIns="0" rIns="0" bIns="0" rtlCol="0" anchor="ctr"/>
          <a:lstStyle/>
          <a:p>
            <a:pPr marL="0" indent="0" algn="ctr">
              <a:buNone/>
            </a:pPr>
            <a:r>
              <a:rPr lang="en-US" sz="1500" b="1" dirty="0">
                <a:solidFill>
                  <a:srgbClr val="00B4D8"/>
                </a:solidFill>
                <a:latin typeface="Consolas" pitchFamily="34" charset="0"/>
                <a:ea typeface="Consolas" pitchFamily="34" charset="-122"/>
                <a:cs typeface="Consolas" pitchFamily="34" charset="-120"/>
              </a:rPr>
              <a:t>φ  ∈  [0, 1]   →   tested: 0.1, 0.2, 0.3, … 0.9</a:t>
            </a:r>
            <a:endParaRPr lang="en-US" sz="1500" dirty="0"/>
          </a:p>
        </p:txBody>
      </p:sp>
      <p:sp>
        <p:nvSpPr>
          <p:cNvPr id="21" name="Text 15">
            <a:extLst>
              <a:ext uri="{FF2B5EF4-FFF2-40B4-BE49-F238E27FC236}">
                <a16:creationId xmlns:a16="http://schemas.microsoft.com/office/drawing/2014/main" id="{52A90EA5-125B-DEB4-76BC-F8A444330974}"/>
              </a:ext>
            </a:extLst>
          </p:cNvPr>
          <p:cNvSpPr/>
          <p:nvPr/>
        </p:nvSpPr>
        <p:spPr>
          <a:xfrm>
            <a:off x="1755081" y="4892697"/>
            <a:ext cx="8412480" cy="6583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φ controls how strongly the archive (Exp₂) guidance influences the velocity update for non-elite particles. A systematic grid search over φ = {0.1, 0.2, ..., 0.9} will determine the optimal blending ratio for CEC 2017 test functions.</a:t>
            </a:r>
            <a:endParaRPr lang="en-US" sz="1200" dirty="0"/>
          </a:p>
        </p:txBody>
      </p:sp>
    </p:spTree>
    <p:extLst>
      <p:ext uri="{BB962C8B-B14F-4D97-AF65-F5344CB8AC3E}">
        <p14:creationId xmlns:p14="http://schemas.microsoft.com/office/powerpoint/2010/main" val="3506848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3"/>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2110523" y="482060"/>
            <a:ext cx="7970954" cy="584775"/>
          </a:xfrm>
          <a:prstGeom prst="rect">
            <a:avLst/>
          </a:prstGeom>
          <a:noFill/>
        </p:spPr>
        <p:txBody>
          <a:bodyPr wrap="square" rtlCol="0">
            <a:spAutoFit/>
          </a:bodyPr>
          <a:lstStyle/>
          <a:p>
            <a:pPr algn="ctr"/>
            <a:r>
              <a:rPr lang="en-US" sz="3200" b="1" dirty="0">
                <a:effectLst/>
                <a:latin typeface="+mj-lt"/>
              </a:rPr>
              <a:t>Modification Plan and Implementation Plan</a:t>
            </a:r>
            <a:endParaRPr lang="en-LK" sz="3200" dirty="0">
              <a:latin typeface="+mj-lt"/>
            </a:endParaRPr>
          </a:p>
        </p:txBody>
      </p:sp>
      <p:sp>
        <p:nvSpPr>
          <p:cNvPr id="6" name="Shape 2">
            <a:extLst>
              <a:ext uri="{FF2B5EF4-FFF2-40B4-BE49-F238E27FC236}">
                <a16:creationId xmlns:a16="http://schemas.microsoft.com/office/drawing/2014/main" id="{027E0484-431B-344C-C819-FEC88F66722A}"/>
              </a:ext>
            </a:extLst>
          </p:cNvPr>
          <p:cNvSpPr/>
          <p:nvPr/>
        </p:nvSpPr>
        <p:spPr>
          <a:xfrm>
            <a:off x="327129" y="1592804"/>
            <a:ext cx="302874" cy="374024"/>
          </a:xfrm>
          <a:prstGeom prst="ellipse">
            <a:avLst/>
          </a:prstGeom>
          <a:solidFill>
            <a:srgbClr val="3A86FF"/>
          </a:solidFill>
          <a:ln w="12700">
            <a:solidFill>
              <a:srgbClr val="3A86FF"/>
            </a:solidFill>
            <a:prstDash val="solid"/>
          </a:ln>
        </p:spPr>
      </p:sp>
      <p:sp>
        <p:nvSpPr>
          <p:cNvPr id="7" name="Text 3">
            <a:extLst>
              <a:ext uri="{FF2B5EF4-FFF2-40B4-BE49-F238E27FC236}">
                <a16:creationId xmlns:a16="http://schemas.microsoft.com/office/drawing/2014/main" id="{8E26792A-D2F7-82D3-8213-64397AE64060}"/>
              </a:ext>
            </a:extLst>
          </p:cNvPr>
          <p:cNvSpPr/>
          <p:nvPr/>
        </p:nvSpPr>
        <p:spPr>
          <a:xfrm>
            <a:off x="327129" y="1592804"/>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4">
            <a:extLst>
              <a:ext uri="{FF2B5EF4-FFF2-40B4-BE49-F238E27FC236}">
                <a16:creationId xmlns:a16="http://schemas.microsoft.com/office/drawing/2014/main" id="{21DC38C4-6FE8-FBD4-85C7-E6E3ABF21B68}"/>
              </a:ext>
            </a:extLst>
          </p:cNvPr>
          <p:cNvSpPr/>
          <p:nvPr/>
        </p:nvSpPr>
        <p:spPr>
          <a:xfrm>
            <a:off x="875769" y="1620236"/>
            <a:ext cx="5489589" cy="327271"/>
          </a:xfrm>
          <a:prstGeom prst="rect">
            <a:avLst/>
          </a:prstGeom>
          <a:solidFill>
            <a:srgbClr val="FFFFFF"/>
          </a:solidFill>
          <a:ln w="12700">
            <a:solidFill>
              <a:srgbClr val="3A86FF"/>
            </a:solidFill>
            <a:prstDash val="solid"/>
          </a:ln>
          <a:effectLst>
            <a:outerShdw blurRad="38100" dist="12700" dir="8100000" algn="bl" rotWithShape="0">
              <a:srgbClr val="000000">
                <a:alpha val="7000"/>
              </a:srgbClr>
            </a:outerShdw>
          </a:effectLst>
        </p:spPr>
      </p:sp>
      <p:sp>
        <p:nvSpPr>
          <p:cNvPr id="10" name="Text 5">
            <a:extLst>
              <a:ext uri="{FF2B5EF4-FFF2-40B4-BE49-F238E27FC236}">
                <a16:creationId xmlns:a16="http://schemas.microsoft.com/office/drawing/2014/main" id="{A0153D78-3723-C4BF-93FF-0DDB917942DC}"/>
              </a:ext>
            </a:extLst>
          </p:cNvPr>
          <p:cNvSpPr/>
          <p:nvPr/>
        </p:nvSpPr>
        <p:spPr>
          <a:xfrm>
            <a:off x="1012929" y="1620236"/>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Initialize NP particles with random positions xᵢ ∈ search space, random velocities vᵢ</a:t>
            </a:r>
            <a:endParaRPr lang="en-US" sz="1150" dirty="0"/>
          </a:p>
        </p:txBody>
      </p:sp>
      <p:sp>
        <p:nvSpPr>
          <p:cNvPr id="11" name="Shape 6">
            <a:extLst>
              <a:ext uri="{FF2B5EF4-FFF2-40B4-BE49-F238E27FC236}">
                <a16:creationId xmlns:a16="http://schemas.microsoft.com/office/drawing/2014/main" id="{9F9A5EAC-0799-AD3A-A772-5D3D1EBFE956}"/>
              </a:ext>
            </a:extLst>
          </p:cNvPr>
          <p:cNvSpPr/>
          <p:nvPr/>
        </p:nvSpPr>
        <p:spPr>
          <a:xfrm>
            <a:off x="327129" y="2196308"/>
            <a:ext cx="302874" cy="374024"/>
          </a:xfrm>
          <a:prstGeom prst="ellipse">
            <a:avLst/>
          </a:prstGeom>
          <a:solidFill>
            <a:srgbClr val="3A86FF"/>
          </a:solidFill>
          <a:ln w="12700">
            <a:solidFill>
              <a:srgbClr val="3A86FF"/>
            </a:solidFill>
            <a:prstDash val="solid"/>
          </a:ln>
        </p:spPr>
      </p:sp>
      <p:sp>
        <p:nvSpPr>
          <p:cNvPr id="12" name="Text 7">
            <a:extLst>
              <a:ext uri="{FF2B5EF4-FFF2-40B4-BE49-F238E27FC236}">
                <a16:creationId xmlns:a16="http://schemas.microsoft.com/office/drawing/2014/main" id="{294BD544-E26B-7BA5-0C5E-5946E914BAC3}"/>
              </a:ext>
            </a:extLst>
          </p:cNvPr>
          <p:cNvSpPr/>
          <p:nvPr/>
        </p:nvSpPr>
        <p:spPr>
          <a:xfrm>
            <a:off x="327129" y="2196308"/>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Shape 8">
            <a:extLst>
              <a:ext uri="{FF2B5EF4-FFF2-40B4-BE49-F238E27FC236}">
                <a16:creationId xmlns:a16="http://schemas.microsoft.com/office/drawing/2014/main" id="{D5886D53-4118-E7D8-16AD-8AD71258C8C8}"/>
              </a:ext>
            </a:extLst>
          </p:cNvPr>
          <p:cNvSpPr/>
          <p:nvPr/>
        </p:nvSpPr>
        <p:spPr>
          <a:xfrm>
            <a:off x="875769" y="2223740"/>
            <a:ext cx="5489589" cy="327271"/>
          </a:xfrm>
          <a:prstGeom prst="rect">
            <a:avLst/>
          </a:prstGeom>
          <a:solidFill>
            <a:srgbClr val="FFFFFF"/>
          </a:solidFill>
          <a:ln w="12700">
            <a:solidFill>
              <a:srgbClr val="3A86FF"/>
            </a:solidFill>
            <a:prstDash val="solid"/>
          </a:ln>
          <a:effectLst>
            <a:outerShdw blurRad="38100" dist="12700" dir="8100000" algn="bl" rotWithShape="0">
              <a:srgbClr val="000000">
                <a:alpha val="7000"/>
              </a:srgbClr>
            </a:outerShdw>
          </a:effectLst>
        </p:spPr>
      </p:sp>
      <p:sp>
        <p:nvSpPr>
          <p:cNvPr id="14" name="Text 9">
            <a:extLst>
              <a:ext uri="{FF2B5EF4-FFF2-40B4-BE49-F238E27FC236}">
                <a16:creationId xmlns:a16="http://schemas.microsoft.com/office/drawing/2014/main" id="{6D09A942-D00F-2DB8-DF1F-0F006C405474}"/>
              </a:ext>
            </a:extLst>
          </p:cNvPr>
          <p:cNvSpPr/>
          <p:nvPr/>
        </p:nvSpPr>
        <p:spPr>
          <a:xfrm>
            <a:off x="1012929" y="2223740"/>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Evaluate fitness f(xᵢ) for all particles. Set pbest_i = xᵢ, gbest = best of all xᵢ</a:t>
            </a:r>
            <a:endParaRPr lang="en-US" sz="1150" dirty="0"/>
          </a:p>
        </p:txBody>
      </p:sp>
      <p:sp>
        <p:nvSpPr>
          <p:cNvPr id="15" name="Shape 10">
            <a:extLst>
              <a:ext uri="{FF2B5EF4-FFF2-40B4-BE49-F238E27FC236}">
                <a16:creationId xmlns:a16="http://schemas.microsoft.com/office/drawing/2014/main" id="{0D54053D-6C3C-48D1-60F3-DAA3AB8B4606}"/>
              </a:ext>
            </a:extLst>
          </p:cNvPr>
          <p:cNvSpPr/>
          <p:nvPr/>
        </p:nvSpPr>
        <p:spPr>
          <a:xfrm>
            <a:off x="327129" y="2799812"/>
            <a:ext cx="302874" cy="374024"/>
          </a:xfrm>
          <a:prstGeom prst="ellipse">
            <a:avLst/>
          </a:prstGeom>
          <a:solidFill>
            <a:srgbClr val="06D6A0"/>
          </a:solidFill>
          <a:ln w="12700">
            <a:solidFill>
              <a:srgbClr val="06D6A0"/>
            </a:solidFill>
            <a:prstDash val="solid"/>
          </a:ln>
        </p:spPr>
      </p:sp>
      <p:sp>
        <p:nvSpPr>
          <p:cNvPr id="16" name="Text 11">
            <a:extLst>
              <a:ext uri="{FF2B5EF4-FFF2-40B4-BE49-F238E27FC236}">
                <a16:creationId xmlns:a16="http://schemas.microsoft.com/office/drawing/2014/main" id="{3D97A812-8700-BF3C-661E-E41FD6373D8D}"/>
              </a:ext>
            </a:extLst>
          </p:cNvPr>
          <p:cNvSpPr/>
          <p:nvPr/>
        </p:nvSpPr>
        <p:spPr>
          <a:xfrm>
            <a:off x="327129" y="2799812"/>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Shape 12">
            <a:extLst>
              <a:ext uri="{FF2B5EF4-FFF2-40B4-BE49-F238E27FC236}">
                <a16:creationId xmlns:a16="http://schemas.microsoft.com/office/drawing/2014/main" id="{3D013811-42FD-3EB4-996B-0E26456A4C2F}"/>
              </a:ext>
            </a:extLst>
          </p:cNvPr>
          <p:cNvSpPr/>
          <p:nvPr/>
        </p:nvSpPr>
        <p:spPr>
          <a:xfrm>
            <a:off x="875769" y="2827244"/>
            <a:ext cx="5489589" cy="327271"/>
          </a:xfrm>
          <a:prstGeom prst="rect">
            <a:avLst/>
          </a:prstGeom>
          <a:solidFill>
            <a:srgbClr val="FFFFFF"/>
          </a:solidFill>
          <a:ln w="12700">
            <a:solidFill>
              <a:srgbClr val="06D6A0"/>
            </a:solidFill>
            <a:prstDash val="solid"/>
          </a:ln>
          <a:effectLst>
            <a:outerShdw blurRad="38100" dist="12700" dir="8100000" algn="bl" rotWithShape="0">
              <a:srgbClr val="000000">
                <a:alpha val="7000"/>
              </a:srgbClr>
            </a:outerShdw>
          </a:effectLst>
        </p:spPr>
      </p:sp>
      <p:sp>
        <p:nvSpPr>
          <p:cNvPr id="18" name="Text 13">
            <a:extLst>
              <a:ext uri="{FF2B5EF4-FFF2-40B4-BE49-F238E27FC236}">
                <a16:creationId xmlns:a16="http://schemas.microsoft.com/office/drawing/2014/main" id="{728BB253-3C56-3E6F-3752-39810C23D6D6}"/>
              </a:ext>
            </a:extLst>
          </p:cNvPr>
          <p:cNvSpPr/>
          <p:nvPr/>
        </p:nvSpPr>
        <p:spPr>
          <a:xfrm>
            <a:off x="1012929" y="2827244"/>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Build Archive: rank all particles by f(xᵢ). Select top M = ⌊p × NP⌋ → elite archive</a:t>
            </a:r>
            <a:endParaRPr lang="en-US" sz="1150" dirty="0"/>
          </a:p>
        </p:txBody>
      </p:sp>
      <p:sp>
        <p:nvSpPr>
          <p:cNvPr id="19" name="Shape 14">
            <a:extLst>
              <a:ext uri="{FF2B5EF4-FFF2-40B4-BE49-F238E27FC236}">
                <a16:creationId xmlns:a16="http://schemas.microsoft.com/office/drawing/2014/main" id="{D611EFC9-323F-BD6C-7B65-163D22C49CD2}"/>
              </a:ext>
            </a:extLst>
          </p:cNvPr>
          <p:cNvSpPr/>
          <p:nvPr/>
        </p:nvSpPr>
        <p:spPr>
          <a:xfrm>
            <a:off x="327129" y="3403316"/>
            <a:ext cx="302874" cy="374024"/>
          </a:xfrm>
          <a:prstGeom prst="ellipse">
            <a:avLst/>
          </a:prstGeom>
          <a:solidFill>
            <a:srgbClr val="F4A261"/>
          </a:solidFill>
          <a:ln w="12700">
            <a:solidFill>
              <a:srgbClr val="F4A261"/>
            </a:solidFill>
            <a:prstDash val="solid"/>
          </a:ln>
        </p:spPr>
      </p:sp>
      <p:sp>
        <p:nvSpPr>
          <p:cNvPr id="20" name="Text 15">
            <a:extLst>
              <a:ext uri="{FF2B5EF4-FFF2-40B4-BE49-F238E27FC236}">
                <a16:creationId xmlns:a16="http://schemas.microsoft.com/office/drawing/2014/main" id="{EE9DC6CB-C5AC-761E-2495-0E99B7FCA28E}"/>
              </a:ext>
            </a:extLst>
          </p:cNvPr>
          <p:cNvSpPr/>
          <p:nvPr/>
        </p:nvSpPr>
        <p:spPr>
          <a:xfrm>
            <a:off x="327129" y="3403316"/>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Shape 16">
            <a:extLst>
              <a:ext uri="{FF2B5EF4-FFF2-40B4-BE49-F238E27FC236}">
                <a16:creationId xmlns:a16="http://schemas.microsoft.com/office/drawing/2014/main" id="{9BD3D532-B1F5-5B41-D08A-B3174E5BBA85}"/>
              </a:ext>
            </a:extLst>
          </p:cNvPr>
          <p:cNvSpPr/>
          <p:nvPr/>
        </p:nvSpPr>
        <p:spPr>
          <a:xfrm>
            <a:off x="875769" y="3430748"/>
            <a:ext cx="5489589" cy="327271"/>
          </a:xfrm>
          <a:prstGeom prst="rect">
            <a:avLst/>
          </a:prstGeom>
          <a:solidFill>
            <a:srgbClr val="FFFFFF"/>
          </a:solidFill>
          <a:ln w="12700">
            <a:solidFill>
              <a:srgbClr val="F4A261"/>
            </a:solidFill>
            <a:prstDash val="solid"/>
          </a:ln>
          <a:effectLst>
            <a:outerShdw blurRad="38100" dist="12700" dir="8100000" algn="bl" rotWithShape="0">
              <a:srgbClr val="000000">
                <a:alpha val="7000"/>
              </a:srgbClr>
            </a:outerShdw>
          </a:effectLst>
        </p:spPr>
      </p:sp>
      <p:sp>
        <p:nvSpPr>
          <p:cNvPr id="22" name="Text 17">
            <a:extLst>
              <a:ext uri="{FF2B5EF4-FFF2-40B4-BE49-F238E27FC236}">
                <a16:creationId xmlns:a16="http://schemas.microsoft.com/office/drawing/2014/main" id="{6D358C44-96BF-2BB1-DA87-27894301EEC0}"/>
              </a:ext>
            </a:extLst>
          </p:cNvPr>
          <p:cNvSpPr/>
          <p:nvPr/>
        </p:nvSpPr>
        <p:spPr>
          <a:xfrm>
            <a:off x="1012929" y="3430748"/>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For each particle i:  if f(xᵢ) ≥ f_worst(M)  →  1</a:t>
            </a:r>
            <a:r>
              <a:rPr lang="en-US" sz="1150" baseline="30000" dirty="0">
                <a:solidFill>
                  <a:srgbClr val="1E293B"/>
                </a:solidFill>
                <a:latin typeface="Calibri" pitchFamily="34" charset="0"/>
                <a:ea typeface="Calibri" pitchFamily="34" charset="-122"/>
                <a:cs typeface="Calibri" pitchFamily="34" charset="-120"/>
              </a:rPr>
              <a:t>st</a:t>
            </a:r>
            <a:r>
              <a:rPr lang="en-US" sz="1150" dirty="0">
                <a:solidFill>
                  <a:srgbClr val="1E293B"/>
                </a:solidFill>
                <a:latin typeface="Calibri" pitchFamily="34" charset="0"/>
                <a:ea typeface="Calibri" pitchFamily="34" charset="-122"/>
                <a:cs typeface="Calibri" pitchFamily="34" charset="-120"/>
              </a:rPr>
              <a:t> Case: skip update (preserve elite)</a:t>
            </a:r>
            <a:endParaRPr lang="en-US" sz="1150" dirty="0"/>
          </a:p>
        </p:txBody>
      </p:sp>
      <p:sp>
        <p:nvSpPr>
          <p:cNvPr id="23" name="Shape 18">
            <a:extLst>
              <a:ext uri="{FF2B5EF4-FFF2-40B4-BE49-F238E27FC236}">
                <a16:creationId xmlns:a16="http://schemas.microsoft.com/office/drawing/2014/main" id="{A17B0F43-169C-6023-A74D-13F0326F81AB}"/>
              </a:ext>
            </a:extLst>
          </p:cNvPr>
          <p:cNvSpPr/>
          <p:nvPr/>
        </p:nvSpPr>
        <p:spPr>
          <a:xfrm>
            <a:off x="327129" y="4006820"/>
            <a:ext cx="302874" cy="374024"/>
          </a:xfrm>
          <a:prstGeom prst="ellipse">
            <a:avLst/>
          </a:prstGeom>
          <a:solidFill>
            <a:srgbClr val="F4A261"/>
          </a:solidFill>
          <a:ln w="12700">
            <a:solidFill>
              <a:srgbClr val="F4A261"/>
            </a:solidFill>
            <a:prstDash val="solid"/>
          </a:ln>
        </p:spPr>
      </p:sp>
      <p:sp>
        <p:nvSpPr>
          <p:cNvPr id="24" name="Text 19">
            <a:extLst>
              <a:ext uri="{FF2B5EF4-FFF2-40B4-BE49-F238E27FC236}">
                <a16:creationId xmlns:a16="http://schemas.microsoft.com/office/drawing/2014/main" id="{6FADE0CE-7218-2349-824A-E0A0A30123EB}"/>
              </a:ext>
            </a:extLst>
          </p:cNvPr>
          <p:cNvSpPr/>
          <p:nvPr/>
        </p:nvSpPr>
        <p:spPr>
          <a:xfrm>
            <a:off x="327129" y="4006820"/>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Shape 20">
            <a:extLst>
              <a:ext uri="{FF2B5EF4-FFF2-40B4-BE49-F238E27FC236}">
                <a16:creationId xmlns:a16="http://schemas.microsoft.com/office/drawing/2014/main" id="{788A4828-1FF5-C9A6-515C-3E8EB38073E4}"/>
              </a:ext>
            </a:extLst>
          </p:cNvPr>
          <p:cNvSpPr/>
          <p:nvPr/>
        </p:nvSpPr>
        <p:spPr>
          <a:xfrm>
            <a:off x="875769" y="4034252"/>
            <a:ext cx="5489589" cy="327271"/>
          </a:xfrm>
          <a:prstGeom prst="rect">
            <a:avLst/>
          </a:prstGeom>
          <a:solidFill>
            <a:srgbClr val="FFFFFF"/>
          </a:solidFill>
          <a:ln w="12700">
            <a:solidFill>
              <a:srgbClr val="F4A261"/>
            </a:solidFill>
            <a:prstDash val="solid"/>
          </a:ln>
          <a:effectLst>
            <a:outerShdw blurRad="38100" dist="12700" dir="8100000" algn="bl" rotWithShape="0">
              <a:srgbClr val="000000">
                <a:alpha val="7000"/>
              </a:srgbClr>
            </a:outerShdw>
          </a:effectLst>
        </p:spPr>
      </p:sp>
      <p:sp>
        <p:nvSpPr>
          <p:cNvPr id="26" name="Text 21">
            <a:extLst>
              <a:ext uri="{FF2B5EF4-FFF2-40B4-BE49-F238E27FC236}">
                <a16:creationId xmlns:a16="http://schemas.microsoft.com/office/drawing/2014/main" id="{CCB00A90-5A31-B118-D494-8067E49A3868}"/>
              </a:ext>
            </a:extLst>
          </p:cNvPr>
          <p:cNvSpPr/>
          <p:nvPr/>
        </p:nvSpPr>
        <p:spPr>
          <a:xfrm>
            <a:off x="1012929" y="4034252"/>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Otherwise  →  2</a:t>
            </a:r>
            <a:r>
              <a:rPr lang="en-US" sz="1150" baseline="30000" dirty="0">
                <a:solidFill>
                  <a:srgbClr val="1E293B"/>
                </a:solidFill>
                <a:latin typeface="Calibri" pitchFamily="34" charset="0"/>
                <a:ea typeface="Calibri" pitchFamily="34" charset="-122"/>
                <a:cs typeface="Calibri" pitchFamily="34" charset="-120"/>
              </a:rPr>
              <a:t>nd</a:t>
            </a:r>
            <a:r>
              <a:rPr lang="en-US" sz="1150" dirty="0">
                <a:solidFill>
                  <a:srgbClr val="1E293B"/>
                </a:solidFill>
                <a:latin typeface="Calibri" pitchFamily="34" charset="0"/>
                <a:ea typeface="Calibri" pitchFamily="34" charset="-122"/>
                <a:cs typeface="Calibri" pitchFamily="34" charset="-120"/>
              </a:rPr>
              <a:t> Case: update vᵢ using ω, c₁, r₁, c₂, r₂, φ with Exp₂ from archive</a:t>
            </a:r>
            <a:endParaRPr lang="en-US" sz="1150" dirty="0"/>
          </a:p>
        </p:txBody>
      </p:sp>
      <p:sp>
        <p:nvSpPr>
          <p:cNvPr id="27" name="Shape 22">
            <a:extLst>
              <a:ext uri="{FF2B5EF4-FFF2-40B4-BE49-F238E27FC236}">
                <a16:creationId xmlns:a16="http://schemas.microsoft.com/office/drawing/2014/main" id="{501FF389-B285-BED3-35F4-921BB14911B0}"/>
              </a:ext>
            </a:extLst>
          </p:cNvPr>
          <p:cNvSpPr/>
          <p:nvPr/>
        </p:nvSpPr>
        <p:spPr>
          <a:xfrm>
            <a:off x="327129" y="4610324"/>
            <a:ext cx="302874" cy="374024"/>
          </a:xfrm>
          <a:prstGeom prst="ellipse">
            <a:avLst/>
          </a:prstGeom>
          <a:solidFill>
            <a:srgbClr val="F72585"/>
          </a:solidFill>
          <a:ln w="12700">
            <a:solidFill>
              <a:srgbClr val="F72585"/>
            </a:solidFill>
            <a:prstDash val="solid"/>
          </a:ln>
        </p:spPr>
      </p:sp>
      <p:sp>
        <p:nvSpPr>
          <p:cNvPr id="28" name="Text 23">
            <a:extLst>
              <a:ext uri="{FF2B5EF4-FFF2-40B4-BE49-F238E27FC236}">
                <a16:creationId xmlns:a16="http://schemas.microsoft.com/office/drawing/2014/main" id="{20F5FAF1-56C8-50BC-8F96-99A9F274C3BE}"/>
              </a:ext>
            </a:extLst>
          </p:cNvPr>
          <p:cNvSpPr/>
          <p:nvPr/>
        </p:nvSpPr>
        <p:spPr>
          <a:xfrm>
            <a:off x="327129" y="4610324"/>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9" name="Shape 24">
            <a:extLst>
              <a:ext uri="{FF2B5EF4-FFF2-40B4-BE49-F238E27FC236}">
                <a16:creationId xmlns:a16="http://schemas.microsoft.com/office/drawing/2014/main" id="{BA466E0D-F9C5-83F2-C6C3-85DF49D148D9}"/>
              </a:ext>
            </a:extLst>
          </p:cNvPr>
          <p:cNvSpPr/>
          <p:nvPr/>
        </p:nvSpPr>
        <p:spPr>
          <a:xfrm>
            <a:off x="875769" y="4637756"/>
            <a:ext cx="5489589" cy="327271"/>
          </a:xfrm>
          <a:prstGeom prst="rect">
            <a:avLst/>
          </a:prstGeom>
          <a:solidFill>
            <a:srgbClr val="FFFFFF"/>
          </a:solidFill>
          <a:ln w="12700">
            <a:solidFill>
              <a:srgbClr val="F72585"/>
            </a:solidFill>
            <a:prstDash val="solid"/>
          </a:ln>
          <a:effectLst>
            <a:outerShdw blurRad="38100" dist="12700" dir="8100000" algn="bl" rotWithShape="0">
              <a:srgbClr val="000000">
                <a:alpha val="7000"/>
              </a:srgbClr>
            </a:outerShdw>
          </a:effectLst>
        </p:spPr>
      </p:sp>
      <p:sp>
        <p:nvSpPr>
          <p:cNvPr id="30" name="Text 25">
            <a:extLst>
              <a:ext uri="{FF2B5EF4-FFF2-40B4-BE49-F238E27FC236}">
                <a16:creationId xmlns:a16="http://schemas.microsoft.com/office/drawing/2014/main" id="{6C5E1523-C835-62B0-146C-734080067897}"/>
              </a:ext>
            </a:extLst>
          </p:cNvPr>
          <p:cNvSpPr/>
          <p:nvPr/>
        </p:nvSpPr>
        <p:spPr>
          <a:xfrm>
            <a:off x="1012929" y="4637756"/>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Update position: xᵢ = xᵢ + vᵢ. Update pbest_i if f(xᵢ_new) &lt; f(pbest_i)</a:t>
            </a:r>
            <a:endParaRPr lang="en-US" sz="1150" dirty="0"/>
          </a:p>
        </p:txBody>
      </p:sp>
      <p:sp>
        <p:nvSpPr>
          <p:cNvPr id="31" name="Shape 26">
            <a:extLst>
              <a:ext uri="{FF2B5EF4-FFF2-40B4-BE49-F238E27FC236}">
                <a16:creationId xmlns:a16="http://schemas.microsoft.com/office/drawing/2014/main" id="{6E835342-BA9C-3E18-C730-11DCD789A2CE}"/>
              </a:ext>
            </a:extLst>
          </p:cNvPr>
          <p:cNvSpPr/>
          <p:nvPr/>
        </p:nvSpPr>
        <p:spPr>
          <a:xfrm>
            <a:off x="327129" y="5213828"/>
            <a:ext cx="302874" cy="374024"/>
          </a:xfrm>
          <a:prstGeom prst="ellipse">
            <a:avLst/>
          </a:prstGeom>
          <a:solidFill>
            <a:srgbClr val="F72585"/>
          </a:solidFill>
          <a:ln w="12700">
            <a:solidFill>
              <a:srgbClr val="F72585"/>
            </a:solidFill>
            <a:prstDash val="solid"/>
          </a:ln>
        </p:spPr>
      </p:sp>
      <p:sp>
        <p:nvSpPr>
          <p:cNvPr id="32" name="Text 27">
            <a:extLst>
              <a:ext uri="{FF2B5EF4-FFF2-40B4-BE49-F238E27FC236}">
                <a16:creationId xmlns:a16="http://schemas.microsoft.com/office/drawing/2014/main" id="{D28627F5-1813-311D-3DB5-5E7F8C1A2956}"/>
              </a:ext>
            </a:extLst>
          </p:cNvPr>
          <p:cNvSpPr/>
          <p:nvPr/>
        </p:nvSpPr>
        <p:spPr>
          <a:xfrm>
            <a:off x="327129" y="5213828"/>
            <a:ext cx="302874" cy="3740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3" name="Shape 28">
            <a:extLst>
              <a:ext uri="{FF2B5EF4-FFF2-40B4-BE49-F238E27FC236}">
                <a16:creationId xmlns:a16="http://schemas.microsoft.com/office/drawing/2014/main" id="{865DB6BE-0C0E-36DA-C89D-685B2FE83496}"/>
              </a:ext>
            </a:extLst>
          </p:cNvPr>
          <p:cNvSpPr/>
          <p:nvPr/>
        </p:nvSpPr>
        <p:spPr>
          <a:xfrm>
            <a:off x="875769" y="5241260"/>
            <a:ext cx="5489589" cy="327271"/>
          </a:xfrm>
          <a:prstGeom prst="rect">
            <a:avLst/>
          </a:prstGeom>
          <a:solidFill>
            <a:srgbClr val="FFFFFF"/>
          </a:solidFill>
          <a:ln w="12700">
            <a:solidFill>
              <a:srgbClr val="F72585"/>
            </a:solidFill>
            <a:prstDash val="solid"/>
          </a:ln>
          <a:effectLst>
            <a:outerShdw blurRad="38100" dist="12700" dir="8100000" algn="bl" rotWithShape="0">
              <a:srgbClr val="000000">
                <a:alpha val="7000"/>
              </a:srgbClr>
            </a:outerShdw>
          </a:effectLst>
        </p:spPr>
      </p:sp>
      <p:sp>
        <p:nvSpPr>
          <p:cNvPr id="34" name="Text 29">
            <a:extLst>
              <a:ext uri="{FF2B5EF4-FFF2-40B4-BE49-F238E27FC236}">
                <a16:creationId xmlns:a16="http://schemas.microsoft.com/office/drawing/2014/main" id="{88E37647-06CD-2798-C092-3499DDCDBE52}"/>
              </a:ext>
            </a:extLst>
          </p:cNvPr>
          <p:cNvSpPr/>
          <p:nvPr/>
        </p:nvSpPr>
        <p:spPr>
          <a:xfrm>
            <a:off x="1012929" y="5241260"/>
            <a:ext cx="5331842" cy="327271"/>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Repeat steps 3 - 6 for T iterations. Record best solution found.</a:t>
            </a:r>
            <a:endParaRPr lang="en-US" sz="1150" dirty="0"/>
          </a:p>
        </p:txBody>
      </p:sp>
      <p:sp>
        <p:nvSpPr>
          <p:cNvPr id="35" name="Shape 2">
            <a:extLst>
              <a:ext uri="{FF2B5EF4-FFF2-40B4-BE49-F238E27FC236}">
                <a16:creationId xmlns:a16="http://schemas.microsoft.com/office/drawing/2014/main" id="{04251055-3808-0506-7551-DE10A71F52AD}"/>
              </a:ext>
            </a:extLst>
          </p:cNvPr>
          <p:cNvSpPr/>
          <p:nvPr/>
        </p:nvSpPr>
        <p:spPr>
          <a:xfrm>
            <a:off x="6538691" y="1615113"/>
            <a:ext cx="2701002" cy="1783080"/>
          </a:xfrm>
          <a:prstGeom prst="rect">
            <a:avLst/>
          </a:prstGeom>
          <a:solidFill>
            <a:srgbClr val="FFFFFF"/>
          </a:solidFill>
          <a:ln w="12700">
            <a:solidFill>
              <a:srgbClr val="3A86FF"/>
            </a:solidFill>
            <a:prstDash val="solid"/>
          </a:ln>
          <a:effectLst>
            <a:outerShdw blurRad="63500" dist="25400" dir="8100000" algn="bl" rotWithShape="0">
              <a:srgbClr val="000000">
                <a:alpha val="10000"/>
              </a:srgbClr>
            </a:outerShdw>
          </a:effectLst>
        </p:spPr>
      </p:sp>
      <p:sp>
        <p:nvSpPr>
          <p:cNvPr id="36" name="Shape 3">
            <a:extLst>
              <a:ext uri="{FF2B5EF4-FFF2-40B4-BE49-F238E27FC236}">
                <a16:creationId xmlns:a16="http://schemas.microsoft.com/office/drawing/2014/main" id="{497B0E5C-621C-3079-52B8-D75147A4DC31}"/>
              </a:ext>
            </a:extLst>
          </p:cNvPr>
          <p:cNvSpPr/>
          <p:nvPr/>
        </p:nvSpPr>
        <p:spPr>
          <a:xfrm>
            <a:off x="6538691" y="1615113"/>
            <a:ext cx="2701002" cy="411480"/>
          </a:xfrm>
          <a:prstGeom prst="rect">
            <a:avLst/>
          </a:prstGeom>
          <a:solidFill>
            <a:srgbClr val="3A86FF"/>
          </a:solidFill>
          <a:ln w="12700">
            <a:solidFill>
              <a:srgbClr val="3A86FF"/>
            </a:solidFill>
            <a:prstDash val="solid"/>
          </a:ln>
        </p:spPr>
      </p:sp>
      <p:sp>
        <p:nvSpPr>
          <p:cNvPr id="37" name="Text 4">
            <a:extLst>
              <a:ext uri="{FF2B5EF4-FFF2-40B4-BE49-F238E27FC236}">
                <a16:creationId xmlns:a16="http://schemas.microsoft.com/office/drawing/2014/main" id="{4BB8D6A3-D920-C34D-95EE-B33500DABF1D}"/>
              </a:ext>
            </a:extLst>
          </p:cNvPr>
          <p:cNvSpPr/>
          <p:nvPr/>
        </p:nvSpPr>
        <p:spPr>
          <a:xfrm>
            <a:off x="6538691" y="1615113"/>
            <a:ext cx="270100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1: Standard PSO Baseline</a:t>
            </a:r>
            <a:endParaRPr lang="en-US" sz="1200" dirty="0"/>
          </a:p>
        </p:txBody>
      </p:sp>
      <p:sp>
        <p:nvSpPr>
          <p:cNvPr id="38" name="Text 5">
            <a:extLst>
              <a:ext uri="{FF2B5EF4-FFF2-40B4-BE49-F238E27FC236}">
                <a16:creationId xmlns:a16="http://schemas.microsoft.com/office/drawing/2014/main" id="{7F28EA4E-517C-1243-CA07-15C31DE29F7E}"/>
              </a:ext>
            </a:extLst>
          </p:cNvPr>
          <p:cNvSpPr/>
          <p:nvPr/>
        </p:nvSpPr>
        <p:spPr>
          <a:xfrm>
            <a:off x="6573015" y="2090601"/>
            <a:ext cx="2556949" cy="12344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Code standard PSO: initialize NP particles, velocity update (ω, c₁, c₂, r₁, r₂), pbest &amp; gbest tracking. Validate on simple benchmark (Sphere function).</a:t>
            </a:r>
            <a:endParaRPr lang="en-US" sz="1100" dirty="0"/>
          </a:p>
        </p:txBody>
      </p:sp>
      <p:sp>
        <p:nvSpPr>
          <p:cNvPr id="39" name="Shape 6">
            <a:extLst>
              <a:ext uri="{FF2B5EF4-FFF2-40B4-BE49-F238E27FC236}">
                <a16:creationId xmlns:a16="http://schemas.microsoft.com/office/drawing/2014/main" id="{55DC95BE-04C7-4B88-4A77-909E596E93D9}"/>
              </a:ext>
            </a:extLst>
          </p:cNvPr>
          <p:cNvSpPr/>
          <p:nvPr/>
        </p:nvSpPr>
        <p:spPr>
          <a:xfrm>
            <a:off x="9326359" y="1686371"/>
            <a:ext cx="2701002" cy="1690446"/>
          </a:xfrm>
          <a:prstGeom prst="rect">
            <a:avLst/>
          </a:prstGeom>
          <a:solidFill>
            <a:srgbClr val="FFFFFF"/>
          </a:solidFill>
          <a:ln w="12700">
            <a:solidFill>
              <a:srgbClr val="06D6A0"/>
            </a:solidFill>
            <a:prstDash val="solid"/>
          </a:ln>
          <a:effectLst>
            <a:outerShdw blurRad="63500" dist="25400" dir="8100000" algn="bl" rotWithShape="0">
              <a:srgbClr val="000000">
                <a:alpha val="10000"/>
              </a:srgbClr>
            </a:outerShdw>
          </a:effectLst>
        </p:spPr>
      </p:sp>
      <p:sp>
        <p:nvSpPr>
          <p:cNvPr id="40" name="Shape 7">
            <a:extLst>
              <a:ext uri="{FF2B5EF4-FFF2-40B4-BE49-F238E27FC236}">
                <a16:creationId xmlns:a16="http://schemas.microsoft.com/office/drawing/2014/main" id="{7099615A-7767-D49A-4D3B-DEF87BCB6448}"/>
              </a:ext>
            </a:extLst>
          </p:cNvPr>
          <p:cNvSpPr/>
          <p:nvPr/>
        </p:nvSpPr>
        <p:spPr>
          <a:xfrm>
            <a:off x="9326359" y="1615113"/>
            <a:ext cx="2701002" cy="390103"/>
          </a:xfrm>
          <a:prstGeom prst="rect">
            <a:avLst/>
          </a:prstGeom>
          <a:solidFill>
            <a:srgbClr val="06D6A0"/>
          </a:solidFill>
          <a:ln w="12700">
            <a:solidFill>
              <a:srgbClr val="06D6A0"/>
            </a:solidFill>
            <a:prstDash val="solid"/>
          </a:ln>
        </p:spPr>
      </p:sp>
      <p:sp>
        <p:nvSpPr>
          <p:cNvPr id="41" name="Text 8">
            <a:extLst>
              <a:ext uri="{FF2B5EF4-FFF2-40B4-BE49-F238E27FC236}">
                <a16:creationId xmlns:a16="http://schemas.microsoft.com/office/drawing/2014/main" id="{4FC4143D-9640-E41A-335D-DAF528D85F6B}"/>
              </a:ext>
            </a:extLst>
          </p:cNvPr>
          <p:cNvSpPr/>
          <p:nvPr/>
        </p:nvSpPr>
        <p:spPr>
          <a:xfrm>
            <a:off x="9326359" y="1615113"/>
            <a:ext cx="2701002" cy="390103"/>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2: Add Elite Archive (Top-M)</a:t>
            </a:r>
            <a:endParaRPr lang="en-US" sz="1200" dirty="0"/>
          </a:p>
        </p:txBody>
      </p:sp>
      <p:sp>
        <p:nvSpPr>
          <p:cNvPr id="42" name="Text 9">
            <a:extLst>
              <a:ext uri="{FF2B5EF4-FFF2-40B4-BE49-F238E27FC236}">
                <a16:creationId xmlns:a16="http://schemas.microsoft.com/office/drawing/2014/main" id="{34D19336-A883-2920-8C30-97FE166D8068}"/>
              </a:ext>
            </a:extLst>
          </p:cNvPr>
          <p:cNvSpPr/>
          <p:nvPr/>
        </p:nvSpPr>
        <p:spPr>
          <a:xfrm>
            <a:off x="9360683" y="2133355"/>
            <a:ext cx="2556949" cy="1170309"/>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archive: sort particles by fitness, select top M = ⌊p×NP⌋. Code two-case update logic. Test the condition f(xᵢ) ≥ f_worst(M).</a:t>
            </a:r>
            <a:endParaRPr lang="en-US" sz="1100" dirty="0"/>
          </a:p>
        </p:txBody>
      </p:sp>
      <p:sp>
        <p:nvSpPr>
          <p:cNvPr id="43" name="Shape 10">
            <a:extLst>
              <a:ext uri="{FF2B5EF4-FFF2-40B4-BE49-F238E27FC236}">
                <a16:creationId xmlns:a16="http://schemas.microsoft.com/office/drawing/2014/main" id="{75FF74B4-6E49-C104-4A78-A4A26835E065}"/>
              </a:ext>
            </a:extLst>
          </p:cNvPr>
          <p:cNvSpPr/>
          <p:nvPr/>
        </p:nvSpPr>
        <p:spPr>
          <a:xfrm>
            <a:off x="6538691" y="3626793"/>
            <a:ext cx="2701002" cy="1783080"/>
          </a:xfrm>
          <a:prstGeom prst="rect">
            <a:avLst/>
          </a:prstGeom>
          <a:solidFill>
            <a:srgbClr val="FFFFFF"/>
          </a:solidFill>
          <a:ln w="12700">
            <a:solidFill>
              <a:srgbClr val="F72585"/>
            </a:solidFill>
            <a:prstDash val="solid"/>
          </a:ln>
          <a:effectLst>
            <a:outerShdw blurRad="63500" dist="25400" dir="8100000" algn="bl" rotWithShape="0">
              <a:srgbClr val="000000">
                <a:alpha val="10000"/>
              </a:srgbClr>
            </a:outerShdw>
          </a:effectLst>
        </p:spPr>
      </p:sp>
      <p:sp>
        <p:nvSpPr>
          <p:cNvPr id="44" name="Shape 11">
            <a:extLst>
              <a:ext uri="{FF2B5EF4-FFF2-40B4-BE49-F238E27FC236}">
                <a16:creationId xmlns:a16="http://schemas.microsoft.com/office/drawing/2014/main" id="{B6035837-49E5-01C5-0E09-5EFB28C645AC}"/>
              </a:ext>
            </a:extLst>
          </p:cNvPr>
          <p:cNvSpPr/>
          <p:nvPr/>
        </p:nvSpPr>
        <p:spPr>
          <a:xfrm>
            <a:off x="6538691" y="3626793"/>
            <a:ext cx="2701002" cy="411480"/>
          </a:xfrm>
          <a:prstGeom prst="rect">
            <a:avLst/>
          </a:prstGeom>
          <a:solidFill>
            <a:srgbClr val="F72585"/>
          </a:solidFill>
          <a:ln w="12700">
            <a:solidFill>
              <a:srgbClr val="F72585"/>
            </a:solidFill>
            <a:prstDash val="solid"/>
          </a:ln>
        </p:spPr>
      </p:sp>
      <p:sp>
        <p:nvSpPr>
          <p:cNvPr id="45" name="Text 12">
            <a:extLst>
              <a:ext uri="{FF2B5EF4-FFF2-40B4-BE49-F238E27FC236}">
                <a16:creationId xmlns:a16="http://schemas.microsoft.com/office/drawing/2014/main" id="{3596EC4E-6F58-E12F-F3AF-80A6A4D721A3}"/>
              </a:ext>
            </a:extLst>
          </p:cNvPr>
          <p:cNvSpPr/>
          <p:nvPr/>
        </p:nvSpPr>
        <p:spPr>
          <a:xfrm>
            <a:off x="6538691" y="3626793"/>
            <a:ext cx="270100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3: φ Parameter Integration &amp; Tuning</a:t>
            </a:r>
            <a:endParaRPr lang="en-US" sz="1200" dirty="0"/>
          </a:p>
        </p:txBody>
      </p:sp>
      <p:sp>
        <p:nvSpPr>
          <p:cNvPr id="46" name="Text 13">
            <a:extLst>
              <a:ext uri="{FF2B5EF4-FFF2-40B4-BE49-F238E27FC236}">
                <a16:creationId xmlns:a16="http://schemas.microsoft.com/office/drawing/2014/main" id="{3847A9B5-7DD2-39A0-B5DC-3D7EE7EF105C}"/>
              </a:ext>
            </a:extLst>
          </p:cNvPr>
          <p:cNvSpPr/>
          <p:nvPr/>
        </p:nvSpPr>
        <p:spPr>
          <a:xfrm>
            <a:off x="6573015" y="4102281"/>
            <a:ext cx="2556949" cy="12344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Add φ ∈ [0,1] to 2</a:t>
            </a:r>
            <a:r>
              <a:rPr lang="en-US" sz="1100" baseline="30000" dirty="0">
                <a:solidFill>
                  <a:srgbClr val="1E293B"/>
                </a:solidFill>
                <a:latin typeface="Calibri" pitchFamily="34" charset="0"/>
                <a:ea typeface="Calibri" pitchFamily="34" charset="-122"/>
                <a:cs typeface="Calibri" pitchFamily="34" charset="-120"/>
              </a:rPr>
              <a:t>nd</a:t>
            </a:r>
            <a:r>
              <a:rPr lang="en-US" sz="1100" dirty="0">
                <a:solidFill>
                  <a:srgbClr val="1E293B"/>
                </a:solidFill>
                <a:latin typeface="Calibri" pitchFamily="34" charset="0"/>
                <a:ea typeface="Calibri" pitchFamily="34" charset="-122"/>
                <a:cs typeface="Calibri" pitchFamily="34" charset="-120"/>
              </a:rPr>
              <a:t> Case update. Run grid search: φ = 0.1, 0.2 ... 0.9. Compare convergence speed and final fitness across φ values.</a:t>
            </a:r>
            <a:endParaRPr lang="en-US" sz="1100" dirty="0"/>
          </a:p>
        </p:txBody>
      </p:sp>
      <p:sp>
        <p:nvSpPr>
          <p:cNvPr id="47" name="Shape 14">
            <a:extLst>
              <a:ext uri="{FF2B5EF4-FFF2-40B4-BE49-F238E27FC236}">
                <a16:creationId xmlns:a16="http://schemas.microsoft.com/office/drawing/2014/main" id="{E15A8059-E272-1CB6-6324-325640035E1F}"/>
              </a:ext>
            </a:extLst>
          </p:cNvPr>
          <p:cNvSpPr/>
          <p:nvPr/>
        </p:nvSpPr>
        <p:spPr>
          <a:xfrm>
            <a:off x="9326359" y="3698051"/>
            <a:ext cx="2701002" cy="1690446"/>
          </a:xfrm>
          <a:prstGeom prst="rect">
            <a:avLst/>
          </a:prstGeom>
          <a:solidFill>
            <a:srgbClr val="FFFFFF"/>
          </a:solidFill>
          <a:ln w="12700">
            <a:solidFill>
              <a:srgbClr val="F4A261"/>
            </a:solidFill>
            <a:prstDash val="solid"/>
          </a:ln>
          <a:effectLst>
            <a:outerShdw blurRad="63500" dist="25400" dir="8100000" algn="bl" rotWithShape="0">
              <a:srgbClr val="000000">
                <a:alpha val="10000"/>
              </a:srgbClr>
            </a:outerShdw>
          </a:effectLst>
        </p:spPr>
      </p:sp>
      <p:sp>
        <p:nvSpPr>
          <p:cNvPr id="48" name="Shape 15">
            <a:extLst>
              <a:ext uri="{FF2B5EF4-FFF2-40B4-BE49-F238E27FC236}">
                <a16:creationId xmlns:a16="http://schemas.microsoft.com/office/drawing/2014/main" id="{05CB6F59-B682-CF58-98CE-ED69F2176970}"/>
              </a:ext>
            </a:extLst>
          </p:cNvPr>
          <p:cNvSpPr/>
          <p:nvPr/>
        </p:nvSpPr>
        <p:spPr>
          <a:xfrm>
            <a:off x="9326359" y="3626793"/>
            <a:ext cx="2701002" cy="390103"/>
          </a:xfrm>
          <a:prstGeom prst="rect">
            <a:avLst/>
          </a:prstGeom>
          <a:solidFill>
            <a:srgbClr val="F4A261"/>
          </a:solidFill>
          <a:ln w="12700">
            <a:solidFill>
              <a:srgbClr val="F4A261"/>
            </a:solidFill>
            <a:prstDash val="solid"/>
          </a:ln>
        </p:spPr>
      </p:sp>
      <p:sp>
        <p:nvSpPr>
          <p:cNvPr id="49" name="Text 16">
            <a:extLst>
              <a:ext uri="{FF2B5EF4-FFF2-40B4-BE49-F238E27FC236}">
                <a16:creationId xmlns:a16="http://schemas.microsoft.com/office/drawing/2014/main" id="{24497525-6D37-B348-620F-DBEE7257B11C}"/>
              </a:ext>
            </a:extLst>
          </p:cNvPr>
          <p:cNvSpPr/>
          <p:nvPr/>
        </p:nvSpPr>
        <p:spPr>
          <a:xfrm>
            <a:off x="9326359" y="3626793"/>
            <a:ext cx="2701002" cy="390103"/>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Phase 4: CEC 2017 Full Evaluation</a:t>
            </a:r>
            <a:endParaRPr lang="en-US" sz="1200" dirty="0"/>
          </a:p>
        </p:txBody>
      </p:sp>
      <p:sp>
        <p:nvSpPr>
          <p:cNvPr id="50" name="Text 17">
            <a:extLst>
              <a:ext uri="{FF2B5EF4-FFF2-40B4-BE49-F238E27FC236}">
                <a16:creationId xmlns:a16="http://schemas.microsoft.com/office/drawing/2014/main" id="{BBFA7C54-27F2-A567-45DC-5BD72665A50F}"/>
              </a:ext>
            </a:extLst>
          </p:cNvPr>
          <p:cNvSpPr/>
          <p:nvPr/>
        </p:nvSpPr>
        <p:spPr>
          <a:xfrm>
            <a:off x="9360683" y="4145035"/>
            <a:ext cx="2556949" cy="1170309"/>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Integrate all 29 CEC 2017 test functions. Run Standard PSO vs Modified PSO comparison. Record mean, std, convergence curves. Final report.</a:t>
            </a:r>
            <a:endParaRPr lang="en-US" sz="1100" dirty="0"/>
          </a:p>
        </p:txBody>
      </p:sp>
    </p:spTree>
    <p:extLst>
      <p:ext uri="{BB962C8B-B14F-4D97-AF65-F5344CB8AC3E}">
        <p14:creationId xmlns:p14="http://schemas.microsoft.com/office/powerpoint/2010/main" val="3456060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1">
            <a:extLst>
              <a:ext uri="{FF2B5EF4-FFF2-40B4-BE49-F238E27FC236}">
                <a16:creationId xmlns:a16="http://schemas.microsoft.com/office/drawing/2014/main" id="{7DE3C627-6ED9-B5CF-C82E-688FD05DFF33}"/>
              </a:ext>
            </a:extLst>
          </p:cNvPr>
          <p:cNvSpPr/>
          <p:nvPr/>
        </p:nvSpPr>
        <p:spPr>
          <a:xfrm>
            <a:off x="0" y="0"/>
            <a:ext cx="12192000" cy="6858000"/>
          </a:xfrm>
          <a:prstGeom prst="rect">
            <a:avLst/>
          </a:prstGeom>
          <a:gradFill>
            <a:gsLst>
              <a:gs pos="19000">
                <a:schemeClr val="accent1">
                  <a:lumMod val="5000"/>
                  <a:lumOff val="95000"/>
                  <a:alpha val="90000"/>
                </a:schemeClr>
              </a:gs>
              <a:gs pos="59000">
                <a:schemeClr val="accent1">
                  <a:lumMod val="30000"/>
                  <a:lumOff val="70000"/>
                  <a:alpha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5" name="图片 122">
            <a:extLst>
              <a:ext uri="{FF2B5EF4-FFF2-40B4-BE49-F238E27FC236}">
                <a16:creationId xmlns:a16="http://schemas.microsoft.com/office/drawing/2014/main" id="{88C03220-CA52-8B62-8455-9AE6F73EA049}"/>
              </a:ext>
            </a:extLst>
          </p:cNvPr>
          <p:cNvPicPr>
            <a:picLocks noChangeAspect="1"/>
          </p:cNvPicPr>
          <p:nvPr/>
        </p:nvPicPr>
        <p:blipFill>
          <a:blip r:embed="rId3"/>
          <a:stretch>
            <a:fillRect/>
          </a:stretch>
        </p:blipFill>
        <p:spPr>
          <a:xfrm>
            <a:off x="9553686" y="51450"/>
            <a:ext cx="2600559" cy="483722"/>
          </a:xfrm>
          <a:prstGeom prst="rect">
            <a:avLst/>
          </a:prstGeom>
        </p:spPr>
      </p:pic>
      <p:sp>
        <p:nvSpPr>
          <p:cNvPr id="2" name="TextBox 1">
            <a:extLst>
              <a:ext uri="{FF2B5EF4-FFF2-40B4-BE49-F238E27FC236}">
                <a16:creationId xmlns:a16="http://schemas.microsoft.com/office/drawing/2014/main" id="{7D6A1267-9557-5765-75FF-F1A4BEA11588}"/>
              </a:ext>
            </a:extLst>
          </p:cNvPr>
          <p:cNvSpPr txBox="1"/>
          <p:nvPr/>
        </p:nvSpPr>
        <p:spPr>
          <a:xfrm>
            <a:off x="-356230" y="483722"/>
            <a:ext cx="7970954" cy="584775"/>
          </a:xfrm>
          <a:prstGeom prst="rect">
            <a:avLst/>
          </a:prstGeom>
          <a:noFill/>
        </p:spPr>
        <p:txBody>
          <a:bodyPr wrap="square" rtlCol="0">
            <a:spAutoFit/>
          </a:bodyPr>
          <a:lstStyle/>
          <a:p>
            <a:pPr algn="ctr"/>
            <a:r>
              <a:rPr lang="en-US" sz="3200" b="1" dirty="0">
                <a:effectLst/>
                <a:latin typeface="+mj-lt"/>
              </a:rPr>
              <a:t>Results as for the implementation</a:t>
            </a:r>
            <a:endParaRPr lang="en-LK" sz="3200" dirty="0">
              <a:latin typeface="+mj-lt"/>
            </a:endParaRPr>
          </a:p>
        </p:txBody>
      </p:sp>
      <p:pic>
        <p:nvPicPr>
          <p:cNvPr id="8" name="Picture 7">
            <a:extLst>
              <a:ext uri="{FF2B5EF4-FFF2-40B4-BE49-F238E27FC236}">
                <a16:creationId xmlns:a16="http://schemas.microsoft.com/office/drawing/2014/main" id="{C4DFEFEF-8F15-C86D-EC47-761B820909CD}"/>
              </a:ext>
            </a:extLst>
          </p:cNvPr>
          <p:cNvPicPr>
            <a:picLocks noChangeAspect="1"/>
          </p:cNvPicPr>
          <p:nvPr/>
        </p:nvPicPr>
        <p:blipFill>
          <a:blip r:embed="rId4"/>
          <a:stretch>
            <a:fillRect/>
          </a:stretch>
        </p:blipFill>
        <p:spPr>
          <a:xfrm>
            <a:off x="6860158" y="483722"/>
            <a:ext cx="4007651" cy="6322828"/>
          </a:xfrm>
          <a:prstGeom prst="rect">
            <a:avLst/>
          </a:prstGeom>
        </p:spPr>
      </p:pic>
      <p:graphicFrame>
        <p:nvGraphicFramePr>
          <p:cNvPr id="51" name="Table 50">
            <a:extLst>
              <a:ext uri="{FF2B5EF4-FFF2-40B4-BE49-F238E27FC236}">
                <a16:creationId xmlns:a16="http://schemas.microsoft.com/office/drawing/2014/main" id="{299FB54A-7234-ED4D-208D-136ADD213A69}"/>
              </a:ext>
            </a:extLst>
          </p:cNvPr>
          <p:cNvGraphicFramePr>
            <a:graphicFrameLocks noGrp="1"/>
          </p:cNvGraphicFramePr>
          <p:nvPr>
            <p:extLst>
              <p:ext uri="{D42A27DB-BD31-4B8C-83A1-F6EECF244321}">
                <p14:modId xmlns:p14="http://schemas.microsoft.com/office/powerpoint/2010/main" val="1540578704"/>
              </p:ext>
            </p:extLst>
          </p:nvPr>
        </p:nvGraphicFramePr>
        <p:xfrm>
          <a:off x="852378" y="3909060"/>
          <a:ext cx="4875027" cy="2468880"/>
        </p:xfrm>
        <a:graphic>
          <a:graphicData uri="http://schemas.openxmlformats.org/drawingml/2006/table">
            <a:tbl>
              <a:tblPr/>
              <a:tblGrid>
                <a:gridCol w="1625009">
                  <a:extLst>
                    <a:ext uri="{9D8B030D-6E8A-4147-A177-3AD203B41FA5}">
                      <a16:colId xmlns:a16="http://schemas.microsoft.com/office/drawing/2014/main" val="4183013849"/>
                    </a:ext>
                  </a:extLst>
                </a:gridCol>
                <a:gridCol w="1625009">
                  <a:extLst>
                    <a:ext uri="{9D8B030D-6E8A-4147-A177-3AD203B41FA5}">
                      <a16:colId xmlns:a16="http://schemas.microsoft.com/office/drawing/2014/main" val="406379503"/>
                    </a:ext>
                  </a:extLst>
                </a:gridCol>
                <a:gridCol w="1625009">
                  <a:extLst>
                    <a:ext uri="{9D8B030D-6E8A-4147-A177-3AD203B41FA5}">
                      <a16:colId xmlns:a16="http://schemas.microsoft.com/office/drawing/2014/main" val="3581556549"/>
                    </a:ext>
                  </a:extLst>
                </a:gridCol>
              </a:tblGrid>
              <a:tr h="249866">
                <a:tc>
                  <a:txBody>
                    <a:bodyPr/>
                    <a:lstStyle/>
                    <a:p>
                      <a:r>
                        <a:rPr lang="en-GB" sz="1200"/>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a:t>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a:t>What's happening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0644810"/>
                  </a:ext>
                </a:extLst>
              </a:tr>
              <a:tr h="437265">
                <a:tc>
                  <a:txBody>
                    <a:bodyPr/>
                    <a:lstStyle/>
                    <a:p>
                      <a:r>
                        <a:rPr lang="en-GB" sz="1200"/>
                        <a:t>F5, F7, F8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dirty="0" err="1"/>
                        <a:t>Rastrigin</a:t>
                      </a:r>
                      <a:r>
                        <a:rPr lang="en-GB" sz="1200" dirty="0"/>
                        <a:t> variants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dirty="0"/>
                        <a:t>Multimodal because elite archive may be locking onto local optima too 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1491544"/>
                  </a:ext>
                </a:extLst>
              </a:tr>
              <a:tr h="437265">
                <a:tc>
                  <a:txBody>
                    <a:bodyPr/>
                    <a:lstStyle/>
                    <a:p>
                      <a:r>
                        <a:rPr lang="en-GB" sz="1200"/>
                        <a:t>F10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a:t>Schwefel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dirty="0"/>
                        <a:t>Very deceptive as Modified 22% worse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1621561"/>
                  </a:ext>
                </a:extLst>
              </a:tr>
              <a:tr h="437265">
                <a:tc>
                  <a:txBody>
                    <a:bodyPr/>
                    <a:lstStyle/>
                    <a:p>
                      <a:r>
                        <a:rPr lang="en-GB" sz="1200"/>
                        <a:t>F15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a:t>Hybrid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dirty="0"/>
                        <a:t>Biggest loss as the Modified 45% worse, high std too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28054"/>
                  </a:ext>
                </a:extLst>
              </a:tr>
              <a:tr h="249866">
                <a:tc>
                  <a:txBody>
                    <a:bodyPr/>
                    <a:lstStyle/>
                    <a:p>
                      <a:r>
                        <a:rPr lang="en-GB" sz="1200"/>
                        <a:t>F14, F18, F21, F24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a:t>Hybrid/Composition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dirty="0"/>
                        <a:t>Marginal losses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893463"/>
                  </a:ext>
                </a:extLst>
              </a:tr>
            </a:tbl>
          </a:graphicData>
        </a:graphic>
      </p:graphicFrame>
      <p:sp>
        <p:nvSpPr>
          <p:cNvPr id="52" name="Rectangle 1">
            <a:extLst>
              <a:ext uri="{FF2B5EF4-FFF2-40B4-BE49-F238E27FC236}">
                <a16:creationId xmlns:a16="http://schemas.microsoft.com/office/drawing/2014/main" id="{2C378A5F-1FF9-E96B-03F3-EB259B5EECCB}"/>
              </a:ext>
            </a:extLst>
          </p:cNvPr>
          <p:cNvSpPr>
            <a:spLocks noChangeArrowheads="1"/>
          </p:cNvSpPr>
          <p:nvPr/>
        </p:nvSpPr>
        <p:spPr bwMode="auto">
          <a:xfrm>
            <a:off x="531371" y="1120676"/>
            <a:ext cx="62592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LK" altLang="en-LK" sz="1200" b="1" i="0" u="none" strike="noStrike" cap="none" normalizeH="0" baseline="0" dirty="0">
                <a:ln>
                  <a:noFill/>
                </a:ln>
                <a:effectLst/>
                <a:latin typeface="+mn-lt"/>
              </a:rPr>
              <a:t>Modified PSO wins 20 out of 29 functions.</a:t>
            </a:r>
            <a:r>
              <a:rPr kumimoji="0" lang="en-LK" altLang="en-LK" sz="1200" b="0" i="0" u="none" strike="noStrike" cap="none" normalizeH="0" baseline="0" dirty="0">
                <a:ln>
                  <a:noFill/>
                </a:ln>
                <a:effectLst/>
                <a:latin typeface="+mn-lt"/>
              </a:rPr>
              <a:t> The standout is F2, where Modified PSO is roughly better than Standard. On most of the composition functions (F21–F29) and hybrid functions (F11–F20), the Modified PSO consistently produces lower mean fitness and crucially a much lower std (standard deviation), meaning it's more stable and repeatable.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LK" altLang="en-LK" sz="12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LK" altLang="en-LK" sz="1200" b="1" i="0" u="none" strike="noStrike" cap="none" normalizeH="0" baseline="0" dirty="0">
                <a:ln>
                  <a:noFill/>
                </a:ln>
                <a:effectLst/>
                <a:latin typeface="+mn-lt"/>
              </a:rPr>
              <a:t>The concerning cases, 9 functions where Standard wins:</a:t>
            </a:r>
            <a:endParaRPr kumimoji="0" lang="en-LK" altLang="en-LK" sz="12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LK" altLang="en-LK" sz="1200" b="1" i="0" u="none" strike="noStrike" cap="none" normalizeH="0" baseline="0" dirty="0">
                <a:ln>
                  <a:noFill/>
                </a:ln>
                <a:effectLst/>
                <a:latin typeface="+mn-lt"/>
              </a:rPr>
              <a:t>What this means:</a:t>
            </a:r>
            <a:endParaRPr kumimoji="0" lang="en-LK" altLang="en-LK" sz="12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LK" altLang="en-LK" sz="1200" b="0" i="0" u="none" strike="noStrike" cap="none" normalizeH="0" baseline="0" dirty="0">
                <a:ln>
                  <a:noFill/>
                </a:ln>
                <a:effectLst/>
                <a:latin typeface="+mn-lt"/>
              </a:rPr>
              <a:t>The elite archive is clearly helping on most functions but hurting on highly multimodal problems like Rastrigin based ones (F5, F7, F8). </a:t>
            </a:r>
          </a:p>
          <a:p>
            <a:pPr marL="0" marR="0" lvl="0" indent="0" algn="just" defTabSz="914400" rtl="0" eaLnBrk="0" fontAlgn="base" latinLnBrk="0" hangingPunct="0">
              <a:lnSpc>
                <a:spcPct val="100000"/>
              </a:lnSpc>
              <a:spcBef>
                <a:spcPct val="0"/>
              </a:spcBef>
              <a:spcAft>
                <a:spcPct val="0"/>
              </a:spcAft>
              <a:buClrTx/>
              <a:buSzTx/>
              <a:buFontTx/>
              <a:buNone/>
              <a:tabLst/>
            </a:pPr>
            <a:r>
              <a:rPr lang="en-GB" altLang="en-LK" sz="1200" dirty="0">
                <a:latin typeface="+mn-lt"/>
              </a:rPr>
              <a:t>W</a:t>
            </a:r>
            <a:r>
              <a:rPr lang="en-LK" altLang="en-LK" sz="1200" dirty="0">
                <a:latin typeface="+mn-lt"/>
              </a:rPr>
              <a:t>hat to check withis is that t</a:t>
            </a:r>
            <a:r>
              <a:rPr kumimoji="0" lang="en-LK" altLang="en-LK" sz="1200" b="0" i="0" u="none" strike="noStrike" cap="none" normalizeH="0" baseline="0" dirty="0">
                <a:ln>
                  <a:noFill/>
                </a:ln>
                <a:effectLst/>
                <a:latin typeface="+mn-lt"/>
              </a:rPr>
              <a:t>he next thing to investigate would be whether adjusting p (archive fraction) helps on those failing functions which is a smaller archive (less freezing) might recover performance on F5/F7/F8/F15.</a:t>
            </a:r>
          </a:p>
        </p:txBody>
      </p:sp>
    </p:spTree>
    <p:extLst>
      <p:ext uri="{BB962C8B-B14F-4D97-AF65-F5344CB8AC3E}">
        <p14:creationId xmlns:p14="http://schemas.microsoft.com/office/powerpoint/2010/main" val="3615908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57451</TotalTime>
  <Words>1540</Words>
  <Application>Microsoft Macintosh PowerPoint</Application>
  <PresentationFormat>Widescreen</PresentationFormat>
  <Paragraphs>144</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Minidu Wickramaarachchi</dc:creator>
  <cp:lastModifiedBy>Minidu Wickramaarachchi</cp:lastModifiedBy>
  <cp:revision>73</cp:revision>
  <cp:lastPrinted>2025-10-21T02:45:41Z</cp:lastPrinted>
  <dcterms:created xsi:type="dcterms:W3CDTF">2025-09-08T04:43:51Z</dcterms:created>
  <dcterms:modified xsi:type="dcterms:W3CDTF">2026-05-13T11:06:10Z</dcterms:modified>
</cp:coreProperties>
</file>